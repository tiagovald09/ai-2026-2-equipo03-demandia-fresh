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6858000" cx="12191675"/>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14" roundtripDataSignature="AMtx7mhapSWwhCraUy/GPsfRjq5amkgZB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4"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Buenas, somos el Equipo 03 y les presentamos DemandIA Fresh, un agente inteligente basado en datos que ayuda a reducir el desperdicio y los quiebres de stock en negocios de alimentos perecibles. Este trabajo es parte del curso Agentes Inteligentes, con el profesor José Alfredo Herrera Quispe. Somos Santiago Valdivia, Fabian Cristobal, Jesus Camargo y Said Taravay. En esta presentación vamos a mostrar el problema, cómo lo resolvimos, los resultados reales de la simulación y una demo en vivo.</a:t>
            </a:r>
            <a:endParaRPr/>
          </a:p>
        </p:txBody>
      </p:sp>
      <p:sp>
        <p:nvSpPr>
          <p:cNvPr id="83" name="Google Shape;83;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7" name="Google Shape;97;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Imaginen una cafetería o una panadería. Cada mañana tienen que decidir cuánto producir, pero todavía no saben cuánta gente va a comprar. Si producen demasiado, lo que sobra se bota: eso es desperdicio y dinero perdido. Si producen muy poco, se quedan sin producto, pierden ventas y los clientes se van sin lo que buscaban. Es una decisión diaria, con información incompleta, y hoy muchos negocios la toman a ojo. Eso es justamente lo que queremos mejorar con nuestro prototipo.</a:t>
            </a:r>
            <a:endParaRPr/>
          </a:p>
        </p:txBody>
      </p:sp>
      <p:sp>
        <p:nvSpPr>
          <p:cNvPr id="98" name="Google Shape;98;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0" name="Google Shape;120;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Nuestro objetivo es comprobar con datos si un agente inteligente decide mejor que una regla fija. Para eso comparamos tres estrategias: el modo base, que produce siempre lo mismo; un agente reactivo, que mira lo que pasó ayer; y un agente basado en utilidad, que evalúa varias opciones. Lo importante es que las tres enfrentan exactamente la misma demanda simulada, así la comparación es justa. La métrica principal es la utilidad neta acumulada. En esta primera parte todavía no usamos Machine Learning.</a:t>
            </a:r>
            <a:endParaRPr/>
          </a:p>
        </p:txBody>
      </p:sp>
      <p:sp>
        <p:nvSpPr>
          <p:cNvPr id="121" name="Google Shape;121;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0" name="Google Shape;150;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Así funciona el sistema. Primero se genera la demanda simulada con una semilla, para que sea reproducible. Cada agente percibe la información que le corresponde y decide cuánto producir, sin ver la demanda del día. Después la simulación revela la demanda real y se calculan las métricas: ventas, desperdicio, ventas perdidas y utilidad. Al final comparamos las tres estrategias. Todo está organizado en pocos archivos de Python y se muestra en una aplicación web hecha con Streamlit.</a:t>
            </a:r>
            <a:endParaRPr/>
          </a:p>
        </p:txBody>
      </p:sp>
      <p:sp>
        <p:nvSpPr>
          <p:cNvPr id="151" name="Google Shape;151;p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2" name="Google Shape;182;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Veamos cómo decide cada estrategia. El modo base es simple: produce 100 unidades todos los días. El agente reactivo usa reglas si-entonces: si ayer vendió casi todo, es decir noventa y cinco por ciento o más, produce diez por ciento más; si vendió setenta y cinco por ciento o menos, produce diez por ciento menos. El agente de utilidad prueba cantidades entre 40 y 180 unidades, usando la demanda de los últimos siete días, calcula cuánto ganaría con cada una y elige la que maximiza la utilidad esperada.</a:t>
            </a:r>
            <a:endParaRPr/>
          </a:p>
        </p:txBody>
      </p:sp>
      <p:sp>
        <p:nvSpPr>
          <p:cNvPr id="183" name="Google Shape;183;p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9" name="Google Shape;209;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Estos son los resultados reales de 30 días con la semilla 42. El modo base obtuvo 20,682 soles, el reactivo 21,619 y el agente de utilidad 22,488, que es el ganador. El reactivo tuvo el mejor nivel de servicio, pero desperdició mucho más. El agente de utilidad logra un equilibrio entre desperdicio y ventas perdidas. Además repetimos el experimento con 30 semillas distintas y el agente de utilidad ganó el 93.3 por ciento de las veces, así que el resultado no fue casualidad.</a:t>
            </a:r>
            <a:endParaRPr/>
          </a:p>
        </p:txBody>
      </p:sp>
      <p:sp>
        <p:nvSpPr>
          <p:cNvPr id="210" name="Google Shape;210;p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3" name="Google Shape;243;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Ahora pasamos a la demo. La aplicación está en línea en esta dirección, y también pueden entrar con el código QR. Aquí podemos cambiar el costo de desperdicio, la penalización por venta perdida, la semilla y la demanda promedio, y volver a ejecutar la simulación. Por ejemplo, si subimos el costo de desperdicio, el agente de utilidad produce menos; si subimos la penalización por venta perdida, produce más. Vamos a probarlo en vivo.</a:t>
            </a:r>
            <a:endParaRPr/>
          </a:p>
        </p:txBody>
      </p:sp>
      <p:sp>
        <p:nvSpPr>
          <p:cNvPr id="244" name="Google Shape;244;p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0" name="Google Shape;270;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Para cerrar: el agente de utilidad logró la mayor utilidad neta; el reactivo tuvo mejor nivel de servicio pero desperdició más; y el modo base fue simple, pero perdió ventas. Una limitación es que usamos datos simulados, y la ventaja depende de que la demanda cambie. Como trabajo futuro, incorporaremos Machine Learning para predecir la demanda, usaremos datos reales y buscaremos llegar a recomendaciones diarias tipo SaaS. Muchas gracias; quedamos atentos a sus preguntas.</a:t>
            </a:r>
            <a:endParaRPr/>
          </a:p>
        </p:txBody>
      </p:sp>
      <p:sp>
        <p:nvSpPr>
          <p:cNvPr id="271" name="Google Shape;271;p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1"/>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1"/>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3"/>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3"/>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4"/>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14"/>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5"/>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15"/>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15"/>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15"/>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7"/>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7"/>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17"/>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8"/>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8"/>
          <p:cNvSpPr/>
          <p:nvPr>
            <p:ph idx="2" type="pic"/>
          </p:nvPr>
        </p:nvSpPr>
        <p:spPr>
          <a:xfrm>
            <a:off x="1792288" y="612775"/>
            <a:ext cx="5486400" cy="4114800"/>
          </a:xfrm>
          <a:prstGeom prst="rect">
            <a:avLst/>
          </a:prstGeom>
          <a:noFill/>
          <a:ln>
            <a:noFill/>
          </a:ln>
        </p:spPr>
      </p:sp>
      <p:sp>
        <p:nvSpPr>
          <p:cNvPr id="64" name="Google Shape;64;p18"/>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9"/>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0"/>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0"/>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
          <p:cNvSpPr/>
          <p:nvPr/>
        </p:nvSpPr>
        <p:spPr>
          <a:xfrm>
            <a:off x="0" y="0"/>
            <a:ext cx="12191695" cy="6858000"/>
          </a:xfrm>
          <a:prstGeom prst="rect">
            <a:avLst/>
          </a:prstGeom>
          <a:solidFill>
            <a:srgbClr val="1A267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6" name="Google Shape;86;p1"/>
          <p:cNvSpPr/>
          <p:nvPr/>
        </p:nvSpPr>
        <p:spPr>
          <a:xfrm>
            <a:off x="0" y="6309360"/>
            <a:ext cx="12191695" cy="548640"/>
          </a:xfrm>
          <a:prstGeom prst="rect">
            <a:avLst/>
          </a:prstGeom>
          <a:solidFill>
            <a:srgbClr val="0F18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7" name="Google Shape;87;p1"/>
          <p:cNvSpPr/>
          <p:nvPr/>
        </p:nvSpPr>
        <p:spPr>
          <a:xfrm>
            <a:off x="731520" y="1417320"/>
            <a:ext cx="109728" cy="2651760"/>
          </a:xfrm>
          <a:prstGeom prst="rect">
            <a:avLst/>
          </a:prstGeom>
          <a:solidFill>
            <a:srgbClr val="3AAFE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8" name="Google Shape;88;p1"/>
          <p:cNvSpPr txBox="1"/>
          <p:nvPr/>
        </p:nvSpPr>
        <p:spPr>
          <a:xfrm>
            <a:off x="1005840" y="1280160"/>
            <a:ext cx="6766560" cy="10972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5600" u="none" cap="none" strike="noStrike">
                <a:solidFill>
                  <a:srgbClr val="FFFFFF"/>
                </a:solidFill>
                <a:latin typeface="Arial"/>
                <a:ea typeface="Arial"/>
                <a:cs typeface="Arial"/>
                <a:sym typeface="Arial"/>
              </a:rPr>
              <a:t>DemandIA Fresh</a:t>
            </a:r>
            <a:endParaRPr/>
          </a:p>
        </p:txBody>
      </p:sp>
      <p:sp>
        <p:nvSpPr>
          <p:cNvPr id="89" name="Google Shape;89;p1"/>
          <p:cNvSpPr txBox="1"/>
          <p:nvPr/>
        </p:nvSpPr>
        <p:spPr>
          <a:xfrm>
            <a:off x="1005840" y="2331720"/>
            <a:ext cx="6400800" cy="12801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rgbClr val="BFE6F8"/>
                </a:solidFill>
                <a:latin typeface="Arial"/>
                <a:ea typeface="Arial"/>
                <a:cs typeface="Arial"/>
                <a:sym typeface="Arial"/>
              </a:rPr>
              <a:t>Agente inteligente basado en datos para reducir desperdicio y quiebres de stock</a:t>
            </a:r>
            <a:endParaRPr/>
          </a:p>
        </p:txBody>
      </p:sp>
      <p:sp>
        <p:nvSpPr>
          <p:cNvPr id="90" name="Google Shape;90;p1"/>
          <p:cNvSpPr txBox="1"/>
          <p:nvPr/>
        </p:nvSpPr>
        <p:spPr>
          <a:xfrm>
            <a:off x="1005840" y="3794760"/>
            <a:ext cx="6583680" cy="8229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FFFFFF"/>
                </a:solidFill>
                <a:latin typeface="Arial"/>
                <a:ea typeface="Arial"/>
                <a:cs typeface="Arial"/>
                <a:sym typeface="Arial"/>
              </a:rPr>
              <a:t>Curso: Agentes Inteligentes</a:t>
            </a:r>
            <a:endParaRPr/>
          </a:p>
          <a:p>
            <a:pPr indent="0" lvl="0" marL="0" marR="0" rtl="0" algn="l">
              <a:spcBef>
                <a:spcPts val="0"/>
              </a:spcBef>
              <a:spcAft>
                <a:spcPts val="0"/>
              </a:spcAft>
              <a:buNone/>
            </a:pPr>
            <a:r>
              <a:rPr b="0" i="0" lang="en-US" sz="1800" u="none" cap="none" strike="noStrike">
                <a:solidFill>
                  <a:srgbClr val="FFFFFF"/>
                </a:solidFill>
                <a:latin typeface="Arial"/>
                <a:ea typeface="Arial"/>
                <a:cs typeface="Arial"/>
                <a:sym typeface="Arial"/>
              </a:rPr>
              <a:t>Equipo 03  ·  Semestre 2026-2</a:t>
            </a:r>
            <a:endParaRPr/>
          </a:p>
        </p:txBody>
      </p:sp>
      <p:sp>
        <p:nvSpPr>
          <p:cNvPr id="91" name="Google Shape;91;p1"/>
          <p:cNvSpPr/>
          <p:nvPr/>
        </p:nvSpPr>
        <p:spPr>
          <a:xfrm>
            <a:off x="8229600" y="1097280"/>
            <a:ext cx="3291840" cy="1051560"/>
          </a:xfrm>
          <a:prstGeom prst="roundRect">
            <a:avLst>
              <a:gd fmla="val 8000" name="adj"/>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logo.png" id="92" name="Google Shape;92;p1"/>
          <p:cNvPicPr preferRelativeResize="0"/>
          <p:nvPr/>
        </p:nvPicPr>
        <p:blipFill rotWithShape="1">
          <a:blip r:embed="rId3">
            <a:alphaModFix/>
          </a:blip>
          <a:srcRect b="0" l="0" r="0" t="0"/>
          <a:stretch/>
        </p:blipFill>
        <p:spPr>
          <a:xfrm>
            <a:off x="9281160" y="1170432"/>
            <a:ext cx="770442" cy="914400"/>
          </a:xfrm>
          <a:prstGeom prst="rect">
            <a:avLst/>
          </a:prstGeom>
          <a:noFill/>
          <a:ln>
            <a:noFill/>
          </a:ln>
        </p:spPr>
      </p:pic>
      <p:sp>
        <p:nvSpPr>
          <p:cNvPr id="93" name="Google Shape;93;p1"/>
          <p:cNvSpPr/>
          <p:nvPr/>
        </p:nvSpPr>
        <p:spPr>
          <a:xfrm>
            <a:off x="7863840" y="2514600"/>
            <a:ext cx="3840480" cy="2926080"/>
          </a:xfrm>
          <a:prstGeom prst="roundRect">
            <a:avLst>
              <a:gd fmla="val 8000" name="adj"/>
            </a:avLst>
          </a:prstGeom>
          <a:solidFill>
            <a:srgbClr val="0F184A"/>
          </a:solidFill>
          <a:ln cap="flat" cmpd="sng" w="19050">
            <a:solidFill>
              <a:srgbClr val="3AAFE5"/>
            </a:solidFill>
            <a:prstDash val="solid"/>
            <a:round/>
            <a:headEnd len="sm" w="sm" type="none"/>
            <a:tailEnd len="sm" w="sm" type="none"/>
          </a:ln>
        </p:spPr>
        <p:txBody>
          <a:bodyPr anchorCtr="0" anchor="ctr" bIns="45700" lIns="320025" spcFirstLastPara="1" rIns="91425" wrap="square" tIns="45700">
            <a:noAutofit/>
          </a:bodyPr>
          <a:lstStyle/>
          <a:p>
            <a:pPr indent="0" lvl="0" marL="0" marR="0" rtl="0" algn="l">
              <a:spcBef>
                <a:spcPts val="0"/>
              </a:spcBef>
              <a:spcAft>
                <a:spcPts val="0"/>
              </a:spcAft>
              <a:buNone/>
            </a:pPr>
            <a:r>
              <a:rPr b="1" i="0" lang="en-US" sz="1600" u="none" cap="none" strike="noStrike">
                <a:solidFill>
                  <a:srgbClr val="3AAFE5"/>
                </a:solidFill>
                <a:latin typeface="Arial"/>
                <a:ea typeface="Arial"/>
                <a:cs typeface="Arial"/>
                <a:sym typeface="Arial"/>
              </a:rPr>
              <a:t>Integrantes</a:t>
            </a:r>
            <a:endParaRPr/>
          </a:p>
          <a:p>
            <a:pPr indent="0" lvl="0" marL="0" marR="0" rtl="0" algn="l">
              <a:spcBef>
                <a:spcPts val="0"/>
              </a:spcBef>
              <a:spcAft>
                <a:spcPts val="0"/>
              </a:spcAft>
              <a:buNone/>
            </a:pPr>
            <a:r>
              <a:rPr b="0" i="0" lang="en-US" sz="2000" u="none" cap="none" strike="noStrike">
                <a:solidFill>
                  <a:srgbClr val="FFFFFF"/>
                </a:solidFill>
                <a:latin typeface="Arial"/>
                <a:ea typeface="Arial"/>
                <a:cs typeface="Arial"/>
                <a:sym typeface="Arial"/>
              </a:rPr>
              <a:t>Santiago Valdivia</a:t>
            </a:r>
            <a:endParaRPr/>
          </a:p>
          <a:p>
            <a:pPr indent="0" lvl="0" marL="0" marR="0" rtl="0" algn="l">
              <a:spcBef>
                <a:spcPts val="0"/>
              </a:spcBef>
              <a:spcAft>
                <a:spcPts val="0"/>
              </a:spcAft>
              <a:buNone/>
            </a:pPr>
            <a:r>
              <a:rPr b="0" i="0" lang="en-US" sz="2000" u="none" cap="none" strike="noStrike">
                <a:solidFill>
                  <a:srgbClr val="FFFFFF"/>
                </a:solidFill>
                <a:latin typeface="Arial"/>
                <a:ea typeface="Arial"/>
                <a:cs typeface="Arial"/>
                <a:sym typeface="Arial"/>
              </a:rPr>
              <a:t>Fabian Cristobal</a:t>
            </a:r>
            <a:endParaRPr/>
          </a:p>
          <a:p>
            <a:pPr indent="0" lvl="0" marL="0" marR="0" rtl="0" algn="l">
              <a:spcBef>
                <a:spcPts val="0"/>
              </a:spcBef>
              <a:spcAft>
                <a:spcPts val="0"/>
              </a:spcAft>
              <a:buNone/>
            </a:pPr>
            <a:r>
              <a:rPr b="0" i="0" lang="en-US" sz="2000" u="none" cap="none" strike="noStrike">
                <a:solidFill>
                  <a:srgbClr val="FFFFFF"/>
                </a:solidFill>
                <a:latin typeface="Arial"/>
                <a:ea typeface="Arial"/>
                <a:cs typeface="Arial"/>
                <a:sym typeface="Arial"/>
              </a:rPr>
              <a:t>Jesus Camargo</a:t>
            </a:r>
            <a:endParaRPr/>
          </a:p>
          <a:p>
            <a:pPr indent="0" lvl="0" marL="0" marR="0" rtl="0" algn="l">
              <a:spcBef>
                <a:spcPts val="0"/>
              </a:spcBef>
              <a:spcAft>
                <a:spcPts val="0"/>
              </a:spcAft>
              <a:buNone/>
            </a:pPr>
            <a:r>
              <a:rPr b="0" i="0" lang="en-US" sz="2000" u="none" cap="none" strike="noStrike">
                <a:solidFill>
                  <a:srgbClr val="FFFFFF"/>
                </a:solidFill>
                <a:latin typeface="Arial"/>
                <a:ea typeface="Arial"/>
                <a:cs typeface="Arial"/>
                <a:sym typeface="Arial"/>
              </a:rPr>
              <a:t>Said Taravay</a:t>
            </a:r>
            <a:endParaRPr/>
          </a:p>
          <a:p>
            <a:pPr indent="0" lvl="0" marL="0" marR="0" rtl="0" algn="l">
              <a:spcBef>
                <a:spcPts val="0"/>
              </a:spcBef>
              <a:spcAft>
                <a:spcPts val="0"/>
              </a:spcAft>
              <a:buNone/>
            </a:pPr>
            <a:r>
              <a:t/>
            </a:r>
            <a:endParaRPr b="0" i="0" sz="2000" u="none" cap="none" strike="noStrike">
              <a:solidFill>
                <a:srgbClr val="FFFFFF"/>
              </a:solidFill>
              <a:latin typeface="Arial"/>
              <a:ea typeface="Arial"/>
              <a:cs typeface="Arial"/>
              <a:sym typeface="Arial"/>
            </a:endParaRPr>
          </a:p>
          <a:p>
            <a:pPr indent="0" lvl="0" marL="0" marR="0" rtl="0" algn="l">
              <a:spcBef>
                <a:spcPts val="0"/>
              </a:spcBef>
              <a:spcAft>
                <a:spcPts val="0"/>
              </a:spcAft>
              <a:buNone/>
            </a:pPr>
            <a:r>
              <a:rPr b="0" i="0" lang="en-US" sz="1300" u="none" cap="none" strike="noStrike">
                <a:solidFill>
                  <a:srgbClr val="BFE6F8"/>
                </a:solidFill>
                <a:latin typeface="Arial"/>
                <a:ea typeface="Arial"/>
                <a:cs typeface="Arial"/>
                <a:sym typeface="Arial"/>
              </a:rPr>
              <a:t>Profesor: José Alfredo Herrera Quispe</a:t>
            </a:r>
            <a:endParaRPr/>
          </a:p>
        </p:txBody>
      </p:sp>
      <p:sp>
        <p:nvSpPr>
          <p:cNvPr id="94" name="Google Shape;94;p1"/>
          <p:cNvSpPr txBox="1"/>
          <p:nvPr/>
        </p:nvSpPr>
        <p:spPr>
          <a:xfrm>
            <a:off x="731520" y="6382512"/>
            <a:ext cx="73152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BFE6F8"/>
                </a:solidFill>
                <a:latin typeface="Arial"/>
                <a:ea typeface="Arial"/>
                <a:cs typeface="Arial"/>
                <a:sym typeface="Arial"/>
              </a:rPr>
              <a:t>Facultad de Ingeniería  ·  Ingeniería en Sistemas de Información  ·  Lima – Perú</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
          <p:cNvSpPr/>
          <p:nvPr/>
        </p:nvSpPr>
        <p:spPr>
          <a:xfrm>
            <a:off x="0" y="0"/>
            <a:ext cx="12191695" cy="109728"/>
          </a:xfrm>
          <a:prstGeom prst="rect">
            <a:avLst/>
          </a:prstGeom>
          <a:solidFill>
            <a:srgbClr val="1A267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1" name="Google Shape;101;p2"/>
          <p:cNvSpPr/>
          <p:nvPr/>
        </p:nvSpPr>
        <p:spPr>
          <a:xfrm>
            <a:off x="548640" y="502920"/>
            <a:ext cx="82296" cy="868680"/>
          </a:xfrm>
          <a:prstGeom prst="rect">
            <a:avLst/>
          </a:prstGeom>
          <a:solidFill>
            <a:srgbClr val="3AAFE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2" name="Google Shape;102;p2"/>
          <p:cNvSpPr txBox="1"/>
          <p:nvPr/>
        </p:nvSpPr>
        <p:spPr>
          <a:xfrm>
            <a:off x="731520" y="411480"/>
            <a:ext cx="86868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3AAFE5"/>
                </a:solidFill>
                <a:latin typeface="Arial"/>
                <a:ea typeface="Arial"/>
                <a:cs typeface="Arial"/>
                <a:sym typeface="Arial"/>
              </a:rPr>
              <a:t>PROBLEMA REAL</a:t>
            </a:r>
            <a:endParaRPr/>
          </a:p>
        </p:txBody>
      </p:sp>
      <p:sp>
        <p:nvSpPr>
          <p:cNvPr id="103" name="Google Shape;103;p2"/>
          <p:cNvSpPr txBox="1"/>
          <p:nvPr/>
        </p:nvSpPr>
        <p:spPr>
          <a:xfrm>
            <a:off x="731520" y="731520"/>
            <a:ext cx="9418320" cy="7315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1A2674"/>
                </a:solidFill>
                <a:latin typeface="Arial"/>
                <a:ea typeface="Arial"/>
                <a:cs typeface="Arial"/>
                <a:sym typeface="Arial"/>
              </a:rPr>
              <a:t>Producir sin conocer la demanda</a:t>
            </a:r>
            <a:endParaRPr/>
          </a:p>
        </p:txBody>
      </p:sp>
      <p:pic>
        <p:nvPicPr>
          <p:cNvPr descr="logo.png" id="104" name="Google Shape;104;p2"/>
          <p:cNvPicPr preferRelativeResize="0"/>
          <p:nvPr/>
        </p:nvPicPr>
        <p:blipFill rotWithShape="1">
          <a:blip r:embed="rId3">
            <a:alphaModFix/>
          </a:blip>
          <a:srcRect b="0" l="0" r="0" t="0"/>
          <a:stretch/>
        </p:blipFill>
        <p:spPr>
          <a:xfrm>
            <a:off x="10744200" y="320040"/>
            <a:ext cx="886008" cy="1051560"/>
          </a:xfrm>
          <a:prstGeom prst="rect">
            <a:avLst/>
          </a:prstGeom>
          <a:noFill/>
          <a:ln>
            <a:noFill/>
          </a:ln>
        </p:spPr>
      </p:pic>
      <p:sp>
        <p:nvSpPr>
          <p:cNvPr id="105" name="Google Shape;105;p2"/>
          <p:cNvSpPr txBox="1"/>
          <p:nvPr/>
        </p:nvSpPr>
        <p:spPr>
          <a:xfrm>
            <a:off x="548640" y="6446520"/>
            <a:ext cx="822960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4A526B"/>
                </a:solidFill>
                <a:latin typeface="Arial"/>
                <a:ea typeface="Arial"/>
                <a:cs typeface="Arial"/>
                <a:sym typeface="Arial"/>
              </a:rPr>
              <a:t>DemandIA Fresh  ·  Equipo 03  ·  Agentes Inteligentes  ·  2026-2</a:t>
            </a:r>
            <a:endParaRPr/>
          </a:p>
        </p:txBody>
      </p:sp>
      <p:sp>
        <p:nvSpPr>
          <p:cNvPr id="106" name="Google Shape;106;p2"/>
          <p:cNvSpPr txBox="1"/>
          <p:nvPr/>
        </p:nvSpPr>
        <p:spPr>
          <a:xfrm>
            <a:off x="10698480" y="6446520"/>
            <a:ext cx="1005840" cy="27432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000" u="none" cap="none" strike="noStrike">
                <a:solidFill>
                  <a:srgbClr val="4A526B"/>
                </a:solidFill>
                <a:latin typeface="Arial"/>
                <a:ea typeface="Arial"/>
                <a:cs typeface="Arial"/>
                <a:sym typeface="Arial"/>
              </a:rPr>
              <a:t>2 / 8</a:t>
            </a:r>
            <a:endParaRPr/>
          </a:p>
        </p:txBody>
      </p:sp>
      <p:sp>
        <p:nvSpPr>
          <p:cNvPr id="107" name="Google Shape;107;p2"/>
          <p:cNvSpPr txBox="1"/>
          <p:nvPr/>
        </p:nvSpPr>
        <p:spPr>
          <a:xfrm>
            <a:off x="731520" y="1600200"/>
            <a:ext cx="10698480" cy="8229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200" u="none" cap="none" strike="noStrike">
                <a:solidFill>
                  <a:srgbClr val="4A526B"/>
                </a:solidFill>
                <a:latin typeface="Arial"/>
                <a:ea typeface="Arial"/>
                <a:cs typeface="Arial"/>
                <a:sym typeface="Arial"/>
              </a:rPr>
              <a:t>Una cafetería o panadería debe decidir cuánto producir ANTES de saber cuánto va a vender.</a:t>
            </a:r>
            <a:endParaRPr/>
          </a:p>
        </p:txBody>
      </p:sp>
      <p:sp>
        <p:nvSpPr>
          <p:cNvPr id="108" name="Google Shape;108;p2"/>
          <p:cNvSpPr/>
          <p:nvPr/>
        </p:nvSpPr>
        <p:spPr>
          <a:xfrm>
            <a:off x="731520" y="2743200"/>
            <a:ext cx="5166360" cy="3291840"/>
          </a:xfrm>
          <a:prstGeom prst="roundRect">
            <a:avLst>
              <a:gd fmla="val 8000" name="adj"/>
            </a:avLst>
          </a:prstGeom>
          <a:solidFill>
            <a:srgbClr val="E4F3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9" name="Google Shape;109;p2"/>
          <p:cNvSpPr txBox="1"/>
          <p:nvPr/>
        </p:nvSpPr>
        <p:spPr>
          <a:xfrm>
            <a:off x="1005840" y="2926080"/>
            <a:ext cx="457200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rgbClr val="1A2674"/>
                </a:solidFill>
                <a:latin typeface="Arial"/>
                <a:ea typeface="Arial"/>
                <a:cs typeface="Arial"/>
                <a:sym typeface="Arial"/>
              </a:rPr>
              <a:t>Producir demasiado</a:t>
            </a:r>
            <a:endParaRPr/>
          </a:p>
        </p:txBody>
      </p:sp>
      <p:sp>
        <p:nvSpPr>
          <p:cNvPr id="110" name="Google Shape;110;p2"/>
          <p:cNvSpPr txBox="1"/>
          <p:nvPr/>
        </p:nvSpPr>
        <p:spPr>
          <a:xfrm>
            <a:off x="1005840" y="3611880"/>
            <a:ext cx="45720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u="none" cap="none" strike="noStrike">
                <a:solidFill>
                  <a:srgbClr val="1A2674"/>
                </a:solidFill>
                <a:latin typeface="Arial"/>
                <a:ea typeface="Arial"/>
                <a:cs typeface="Arial"/>
                <a:sym typeface="Arial"/>
              </a:rPr>
              <a:t>=</a:t>
            </a:r>
            <a:endParaRPr/>
          </a:p>
        </p:txBody>
      </p:sp>
      <p:sp>
        <p:nvSpPr>
          <p:cNvPr id="111" name="Google Shape;111;p2"/>
          <p:cNvSpPr txBox="1"/>
          <p:nvPr/>
        </p:nvSpPr>
        <p:spPr>
          <a:xfrm>
            <a:off x="1005840" y="4069080"/>
            <a:ext cx="4663440" cy="7315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1A2674"/>
                </a:solidFill>
                <a:latin typeface="Arial"/>
                <a:ea typeface="Arial"/>
                <a:cs typeface="Arial"/>
                <a:sym typeface="Arial"/>
              </a:rPr>
              <a:t>DESPERDICIO</a:t>
            </a:r>
            <a:endParaRPr/>
          </a:p>
        </p:txBody>
      </p:sp>
      <p:sp>
        <p:nvSpPr>
          <p:cNvPr id="112" name="Google Shape;112;p2"/>
          <p:cNvSpPr txBox="1"/>
          <p:nvPr/>
        </p:nvSpPr>
        <p:spPr>
          <a:xfrm>
            <a:off x="1005840" y="4983480"/>
            <a:ext cx="4572000"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rgbClr val="4A526B"/>
                </a:solidFill>
                <a:latin typeface="Arial"/>
                <a:ea typeface="Arial"/>
                <a:cs typeface="Arial"/>
                <a:sym typeface="Arial"/>
              </a:rPr>
              <a:t>•  Producto que se bota</a:t>
            </a:r>
            <a:endParaRPr/>
          </a:p>
          <a:p>
            <a:pPr indent="0" lvl="0" marL="0" marR="0" rtl="0" algn="l">
              <a:spcBef>
                <a:spcPts val="0"/>
              </a:spcBef>
              <a:spcAft>
                <a:spcPts val="0"/>
              </a:spcAft>
              <a:buNone/>
            </a:pPr>
            <a:r>
              <a:rPr b="0" i="0" lang="en-US" sz="1800" u="none" cap="none" strike="noStrike">
                <a:solidFill>
                  <a:srgbClr val="4A526B"/>
                </a:solidFill>
                <a:latin typeface="Arial"/>
                <a:ea typeface="Arial"/>
                <a:cs typeface="Arial"/>
                <a:sym typeface="Arial"/>
              </a:rPr>
              <a:t>•  Dinero perdido</a:t>
            </a:r>
            <a:endParaRPr/>
          </a:p>
        </p:txBody>
      </p:sp>
      <p:sp>
        <p:nvSpPr>
          <p:cNvPr id="113" name="Google Shape;113;p2"/>
          <p:cNvSpPr/>
          <p:nvPr/>
        </p:nvSpPr>
        <p:spPr>
          <a:xfrm>
            <a:off x="6309360" y="2743200"/>
            <a:ext cx="5166360" cy="3291840"/>
          </a:xfrm>
          <a:prstGeom prst="roundRect">
            <a:avLst>
              <a:gd fmla="val 8000" name="adj"/>
            </a:avLst>
          </a:prstGeom>
          <a:solidFill>
            <a:srgbClr val="1A267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4" name="Google Shape;114;p2"/>
          <p:cNvSpPr txBox="1"/>
          <p:nvPr/>
        </p:nvSpPr>
        <p:spPr>
          <a:xfrm>
            <a:off x="6583680" y="2926080"/>
            <a:ext cx="457200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rgbClr val="FFFFFF"/>
                </a:solidFill>
                <a:latin typeface="Arial"/>
                <a:ea typeface="Arial"/>
                <a:cs typeface="Arial"/>
                <a:sym typeface="Arial"/>
              </a:rPr>
              <a:t>Producir muy poco</a:t>
            </a:r>
            <a:endParaRPr/>
          </a:p>
        </p:txBody>
      </p:sp>
      <p:sp>
        <p:nvSpPr>
          <p:cNvPr id="115" name="Google Shape;115;p2"/>
          <p:cNvSpPr txBox="1"/>
          <p:nvPr/>
        </p:nvSpPr>
        <p:spPr>
          <a:xfrm>
            <a:off x="6583680" y="3611880"/>
            <a:ext cx="45720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u="none" cap="none" strike="noStrike">
                <a:solidFill>
                  <a:srgbClr val="3AAFE5"/>
                </a:solidFill>
                <a:latin typeface="Arial"/>
                <a:ea typeface="Arial"/>
                <a:cs typeface="Arial"/>
                <a:sym typeface="Arial"/>
              </a:rPr>
              <a:t>=</a:t>
            </a:r>
            <a:endParaRPr/>
          </a:p>
        </p:txBody>
      </p:sp>
      <p:sp>
        <p:nvSpPr>
          <p:cNvPr id="116" name="Google Shape;116;p2"/>
          <p:cNvSpPr txBox="1"/>
          <p:nvPr/>
        </p:nvSpPr>
        <p:spPr>
          <a:xfrm>
            <a:off x="6583680" y="4069080"/>
            <a:ext cx="4663440" cy="7315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3AAFE5"/>
                </a:solidFill>
                <a:latin typeface="Arial"/>
                <a:ea typeface="Arial"/>
                <a:cs typeface="Arial"/>
                <a:sym typeface="Arial"/>
              </a:rPr>
              <a:t>VENTAS PERDIDAS</a:t>
            </a:r>
            <a:endParaRPr/>
          </a:p>
        </p:txBody>
      </p:sp>
      <p:sp>
        <p:nvSpPr>
          <p:cNvPr id="117" name="Google Shape;117;p2"/>
          <p:cNvSpPr txBox="1"/>
          <p:nvPr/>
        </p:nvSpPr>
        <p:spPr>
          <a:xfrm>
            <a:off x="6583680" y="4983480"/>
            <a:ext cx="4572000"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rgbClr val="FFFFFF"/>
                </a:solidFill>
                <a:latin typeface="Arial"/>
                <a:ea typeface="Arial"/>
                <a:cs typeface="Arial"/>
                <a:sym typeface="Arial"/>
              </a:rPr>
              <a:t>•  Clientes sin atender</a:t>
            </a:r>
            <a:endParaRPr/>
          </a:p>
          <a:p>
            <a:pPr indent="0" lvl="0" marL="0" marR="0" rtl="0" algn="l">
              <a:spcBef>
                <a:spcPts val="0"/>
              </a:spcBef>
              <a:spcAft>
                <a:spcPts val="0"/>
              </a:spcAft>
              <a:buNone/>
            </a:pPr>
            <a:r>
              <a:rPr b="0" i="0" lang="en-US" sz="1800" u="none" cap="none" strike="noStrike">
                <a:solidFill>
                  <a:srgbClr val="FFFFFF"/>
                </a:solidFill>
                <a:latin typeface="Arial"/>
                <a:ea typeface="Arial"/>
                <a:cs typeface="Arial"/>
                <a:sym typeface="Arial"/>
              </a:rPr>
              <a:t>•  Quiebres de stock</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3"/>
          <p:cNvSpPr/>
          <p:nvPr/>
        </p:nvSpPr>
        <p:spPr>
          <a:xfrm>
            <a:off x="0" y="0"/>
            <a:ext cx="12191695" cy="109728"/>
          </a:xfrm>
          <a:prstGeom prst="rect">
            <a:avLst/>
          </a:prstGeom>
          <a:solidFill>
            <a:srgbClr val="1A267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4" name="Google Shape;124;p3"/>
          <p:cNvSpPr/>
          <p:nvPr/>
        </p:nvSpPr>
        <p:spPr>
          <a:xfrm>
            <a:off x="548640" y="502920"/>
            <a:ext cx="82296" cy="868680"/>
          </a:xfrm>
          <a:prstGeom prst="rect">
            <a:avLst/>
          </a:prstGeom>
          <a:solidFill>
            <a:srgbClr val="3AAFE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5" name="Google Shape;125;p3"/>
          <p:cNvSpPr txBox="1"/>
          <p:nvPr/>
        </p:nvSpPr>
        <p:spPr>
          <a:xfrm>
            <a:off x="731520" y="411480"/>
            <a:ext cx="86868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3AAFE5"/>
                </a:solidFill>
                <a:latin typeface="Arial"/>
                <a:ea typeface="Arial"/>
                <a:cs typeface="Arial"/>
                <a:sym typeface="Arial"/>
              </a:rPr>
              <a:t>OBJETIVO DEL PROTOTIPO</a:t>
            </a:r>
            <a:endParaRPr/>
          </a:p>
        </p:txBody>
      </p:sp>
      <p:sp>
        <p:nvSpPr>
          <p:cNvPr id="126" name="Google Shape;126;p3"/>
          <p:cNvSpPr txBox="1"/>
          <p:nvPr/>
        </p:nvSpPr>
        <p:spPr>
          <a:xfrm>
            <a:off x="731520" y="731520"/>
            <a:ext cx="9418320" cy="7315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1A2674"/>
                </a:solidFill>
                <a:latin typeface="Arial"/>
                <a:ea typeface="Arial"/>
                <a:cs typeface="Arial"/>
                <a:sym typeface="Arial"/>
              </a:rPr>
              <a:t>Tres estrategias, la misma demanda</a:t>
            </a:r>
            <a:endParaRPr/>
          </a:p>
        </p:txBody>
      </p:sp>
      <p:pic>
        <p:nvPicPr>
          <p:cNvPr descr="logo.png" id="127" name="Google Shape;127;p3"/>
          <p:cNvPicPr preferRelativeResize="0"/>
          <p:nvPr/>
        </p:nvPicPr>
        <p:blipFill rotWithShape="1">
          <a:blip r:embed="rId3">
            <a:alphaModFix/>
          </a:blip>
          <a:srcRect b="0" l="0" r="0" t="0"/>
          <a:stretch/>
        </p:blipFill>
        <p:spPr>
          <a:xfrm>
            <a:off x="10744200" y="320040"/>
            <a:ext cx="886008" cy="1051560"/>
          </a:xfrm>
          <a:prstGeom prst="rect">
            <a:avLst/>
          </a:prstGeom>
          <a:noFill/>
          <a:ln>
            <a:noFill/>
          </a:ln>
        </p:spPr>
      </p:pic>
      <p:sp>
        <p:nvSpPr>
          <p:cNvPr id="128" name="Google Shape;128;p3"/>
          <p:cNvSpPr txBox="1"/>
          <p:nvPr/>
        </p:nvSpPr>
        <p:spPr>
          <a:xfrm>
            <a:off x="548640" y="6446520"/>
            <a:ext cx="822960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4A526B"/>
                </a:solidFill>
                <a:latin typeface="Arial"/>
                <a:ea typeface="Arial"/>
                <a:cs typeface="Arial"/>
                <a:sym typeface="Arial"/>
              </a:rPr>
              <a:t>DemandIA Fresh  ·  Equipo 03  ·  Agentes Inteligentes  ·  2026-2</a:t>
            </a:r>
            <a:endParaRPr/>
          </a:p>
        </p:txBody>
      </p:sp>
      <p:sp>
        <p:nvSpPr>
          <p:cNvPr id="129" name="Google Shape;129;p3"/>
          <p:cNvSpPr txBox="1"/>
          <p:nvPr/>
        </p:nvSpPr>
        <p:spPr>
          <a:xfrm>
            <a:off x="10698480" y="6446520"/>
            <a:ext cx="1005840" cy="27432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000" u="none" cap="none" strike="noStrike">
                <a:solidFill>
                  <a:srgbClr val="4A526B"/>
                </a:solidFill>
                <a:latin typeface="Arial"/>
                <a:ea typeface="Arial"/>
                <a:cs typeface="Arial"/>
                <a:sym typeface="Arial"/>
              </a:rPr>
              <a:t>3 / 8</a:t>
            </a:r>
            <a:endParaRPr/>
          </a:p>
        </p:txBody>
      </p:sp>
      <p:sp>
        <p:nvSpPr>
          <p:cNvPr id="130" name="Google Shape;130;p3"/>
          <p:cNvSpPr txBox="1"/>
          <p:nvPr/>
        </p:nvSpPr>
        <p:spPr>
          <a:xfrm>
            <a:off x="731520" y="1600200"/>
            <a:ext cx="1069848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200" u="none" cap="none" strike="noStrike">
                <a:solidFill>
                  <a:srgbClr val="4A526B"/>
                </a:solidFill>
                <a:latin typeface="Arial"/>
                <a:ea typeface="Arial"/>
                <a:cs typeface="Arial"/>
                <a:sym typeface="Arial"/>
              </a:rPr>
              <a:t>Comparar tres estrategias sobre la misma demanda simulada:</a:t>
            </a:r>
            <a:endParaRPr/>
          </a:p>
        </p:txBody>
      </p:sp>
      <p:sp>
        <p:nvSpPr>
          <p:cNvPr id="131" name="Google Shape;131;p3"/>
          <p:cNvSpPr/>
          <p:nvPr/>
        </p:nvSpPr>
        <p:spPr>
          <a:xfrm>
            <a:off x="731520" y="2468880"/>
            <a:ext cx="3383280" cy="2743200"/>
          </a:xfrm>
          <a:prstGeom prst="roundRect">
            <a:avLst>
              <a:gd fmla="val 8000" name="adj"/>
            </a:avLst>
          </a:prstGeom>
          <a:solidFill>
            <a:srgbClr val="E4F3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2" name="Google Shape;132;p3"/>
          <p:cNvSpPr/>
          <p:nvPr/>
        </p:nvSpPr>
        <p:spPr>
          <a:xfrm>
            <a:off x="1005840" y="2697480"/>
            <a:ext cx="640080" cy="640080"/>
          </a:xfrm>
          <a:prstGeom prst="ellipse">
            <a:avLst/>
          </a:prstGeom>
          <a:solidFill>
            <a:srgbClr val="3AAFE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3" name="Google Shape;133;p3"/>
          <p:cNvSpPr txBox="1"/>
          <p:nvPr/>
        </p:nvSpPr>
        <p:spPr>
          <a:xfrm>
            <a:off x="1005840" y="2697480"/>
            <a:ext cx="640080" cy="64008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i="0" lang="en-US" sz="2400" u="none" cap="none" strike="noStrike">
                <a:solidFill>
                  <a:srgbClr val="FFFFFF"/>
                </a:solidFill>
                <a:latin typeface="Arial"/>
                <a:ea typeface="Arial"/>
                <a:cs typeface="Arial"/>
                <a:sym typeface="Arial"/>
              </a:rPr>
              <a:t>1</a:t>
            </a:r>
            <a:endParaRPr/>
          </a:p>
        </p:txBody>
      </p:sp>
      <p:sp>
        <p:nvSpPr>
          <p:cNvPr id="134" name="Google Shape;134;p3"/>
          <p:cNvSpPr txBox="1"/>
          <p:nvPr/>
        </p:nvSpPr>
        <p:spPr>
          <a:xfrm>
            <a:off x="914400" y="3520440"/>
            <a:ext cx="3017520" cy="6400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1A2674"/>
                </a:solidFill>
                <a:latin typeface="Arial"/>
                <a:ea typeface="Arial"/>
                <a:cs typeface="Arial"/>
                <a:sym typeface="Arial"/>
              </a:rPr>
              <a:t>Base</a:t>
            </a:r>
            <a:endParaRPr/>
          </a:p>
        </p:txBody>
      </p:sp>
      <p:sp>
        <p:nvSpPr>
          <p:cNvPr id="135" name="Google Shape;135;p3"/>
          <p:cNvSpPr txBox="1"/>
          <p:nvPr/>
        </p:nvSpPr>
        <p:spPr>
          <a:xfrm>
            <a:off x="914400" y="4206240"/>
            <a:ext cx="3017520" cy="8229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rgbClr val="4A526B"/>
                </a:solidFill>
                <a:latin typeface="Arial"/>
                <a:ea typeface="Arial"/>
                <a:cs typeface="Arial"/>
                <a:sym typeface="Arial"/>
              </a:rPr>
              <a:t>Produce siempre lo mismo</a:t>
            </a:r>
            <a:endParaRPr/>
          </a:p>
        </p:txBody>
      </p:sp>
      <p:sp>
        <p:nvSpPr>
          <p:cNvPr id="136" name="Google Shape;136;p3"/>
          <p:cNvSpPr/>
          <p:nvPr/>
        </p:nvSpPr>
        <p:spPr>
          <a:xfrm>
            <a:off x="4389120" y="2468880"/>
            <a:ext cx="3383280" cy="2743200"/>
          </a:xfrm>
          <a:prstGeom prst="roundRect">
            <a:avLst>
              <a:gd fmla="val 8000" name="adj"/>
            </a:avLst>
          </a:prstGeom>
          <a:solidFill>
            <a:srgbClr val="E4F3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7" name="Google Shape;137;p3"/>
          <p:cNvSpPr/>
          <p:nvPr/>
        </p:nvSpPr>
        <p:spPr>
          <a:xfrm>
            <a:off x="4663440" y="2697480"/>
            <a:ext cx="640080" cy="640080"/>
          </a:xfrm>
          <a:prstGeom prst="ellipse">
            <a:avLst/>
          </a:prstGeom>
          <a:solidFill>
            <a:srgbClr val="3AAFE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8" name="Google Shape;138;p3"/>
          <p:cNvSpPr txBox="1"/>
          <p:nvPr/>
        </p:nvSpPr>
        <p:spPr>
          <a:xfrm>
            <a:off x="4663440" y="2697480"/>
            <a:ext cx="640080" cy="64008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i="0" lang="en-US" sz="2400" u="none" cap="none" strike="noStrike">
                <a:solidFill>
                  <a:srgbClr val="FFFFFF"/>
                </a:solidFill>
                <a:latin typeface="Arial"/>
                <a:ea typeface="Arial"/>
                <a:cs typeface="Arial"/>
                <a:sym typeface="Arial"/>
              </a:rPr>
              <a:t>2</a:t>
            </a:r>
            <a:endParaRPr/>
          </a:p>
        </p:txBody>
      </p:sp>
      <p:sp>
        <p:nvSpPr>
          <p:cNvPr id="139" name="Google Shape;139;p3"/>
          <p:cNvSpPr txBox="1"/>
          <p:nvPr/>
        </p:nvSpPr>
        <p:spPr>
          <a:xfrm>
            <a:off x="4572000" y="3520440"/>
            <a:ext cx="3017520" cy="6400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1A2674"/>
                </a:solidFill>
                <a:latin typeface="Arial"/>
                <a:ea typeface="Arial"/>
                <a:cs typeface="Arial"/>
                <a:sym typeface="Arial"/>
              </a:rPr>
              <a:t>Reactivo</a:t>
            </a:r>
            <a:endParaRPr/>
          </a:p>
        </p:txBody>
      </p:sp>
      <p:sp>
        <p:nvSpPr>
          <p:cNvPr id="140" name="Google Shape;140;p3"/>
          <p:cNvSpPr txBox="1"/>
          <p:nvPr/>
        </p:nvSpPr>
        <p:spPr>
          <a:xfrm>
            <a:off x="4572000" y="4206240"/>
            <a:ext cx="3017520" cy="8229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rgbClr val="4A526B"/>
                </a:solidFill>
                <a:latin typeface="Arial"/>
                <a:ea typeface="Arial"/>
                <a:cs typeface="Arial"/>
                <a:sym typeface="Arial"/>
              </a:rPr>
              <a:t>Mira lo que pasó ayer</a:t>
            </a:r>
            <a:endParaRPr/>
          </a:p>
        </p:txBody>
      </p:sp>
      <p:sp>
        <p:nvSpPr>
          <p:cNvPr id="141" name="Google Shape;141;p3"/>
          <p:cNvSpPr/>
          <p:nvPr/>
        </p:nvSpPr>
        <p:spPr>
          <a:xfrm>
            <a:off x="8046720" y="2468880"/>
            <a:ext cx="3383280" cy="2743200"/>
          </a:xfrm>
          <a:prstGeom prst="roundRect">
            <a:avLst>
              <a:gd fmla="val 8000" name="adj"/>
            </a:avLst>
          </a:prstGeom>
          <a:solidFill>
            <a:srgbClr val="1A267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2" name="Google Shape;142;p3"/>
          <p:cNvSpPr/>
          <p:nvPr/>
        </p:nvSpPr>
        <p:spPr>
          <a:xfrm>
            <a:off x="8321040" y="2697480"/>
            <a:ext cx="640080" cy="640080"/>
          </a:xfrm>
          <a:prstGeom prst="ellipse">
            <a:avLst/>
          </a:prstGeom>
          <a:solidFill>
            <a:srgbClr val="3AAFE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3" name="Google Shape;143;p3"/>
          <p:cNvSpPr txBox="1"/>
          <p:nvPr/>
        </p:nvSpPr>
        <p:spPr>
          <a:xfrm>
            <a:off x="8321040" y="2697480"/>
            <a:ext cx="640080" cy="64008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i="0" lang="en-US" sz="2400" u="none" cap="none" strike="noStrike">
                <a:solidFill>
                  <a:srgbClr val="FFFFFF"/>
                </a:solidFill>
                <a:latin typeface="Arial"/>
                <a:ea typeface="Arial"/>
                <a:cs typeface="Arial"/>
                <a:sym typeface="Arial"/>
              </a:rPr>
              <a:t>3</a:t>
            </a:r>
            <a:endParaRPr/>
          </a:p>
        </p:txBody>
      </p:sp>
      <p:sp>
        <p:nvSpPr>
          <p:cNvPr id="144" name="Google Shape;144;p3"/>
          <p:cNvSpPr txBox="1"/>
          <p:nvPr/>
        </p:nvSpPr>
        <p:spPr>
          <a:xfrm>
            <a:off x="8229600" y="3520440"/>
            <a:ext cx="3017520" cy="6400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FFFFFF"/>
                </a:solidFill>
                <a:latin typeface="Arial"/>
                <a:ea typeface="Arial"/>
                <a:cs typeface="Arial"/>
                <a:sym typeface="Arial"/>
              </a:rPr>
              <a:t>Utilidad</a:t>
            </a:r>
            <a:endParaRPr/>
          </a:p>
        </p:txBody>
      </p:sp>
      <p:sp>
        <p:nvSpPr>
          <p:cNvPr id="145" name="Google Shape;145;p3"/>
          <p:cNvSpPr txBox="1"/>
          <p:nvPr/>
        </p:nvSpPr>
        <p:spPr>
          <a:xfrm>
            <a:off x="8229600" y="4206240"/>
            <a:ext cx="3017520" cy="8229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rgbClr val="FFFFFF"/>
                </a:solidFill>
                <a:latin typeface="Arial"/>
                <a:ea typeface="Arial"/>
                <a:cs typeface="Arial"/>
                <a:sym typeface="Arial"/>
              </a:rPr>
              <a:t>Evalúa opciones y elige la mejor</a:t>
            </a:r>
            <a:endParaRPr/>
          </a:p>
        </p:txBody>
      </p:sp>
      <p:sp>
        <p:nvSpPr>
          <p:cNvPr id="146" name="Google Shape;146;p3"/>
          <p:cNvSpPr/>
          <p:nvPr/>
        </p:nvSpPr>
        <p:spPr>
          <a:xfrm>
            <a:off x="731520" y="5486400"/>
            <a:ext cx="10698480" cy="685800"/>
          </a:xfrm>
          <a:prstGeom prst="roundRect">
            <a:avLst>
              <a:gd fmla="val 8000" name="adj"/>
            </a:avLst>
          </a:prstGeom>
          <a:solidFill>
            <a:srgbClr val="E4F3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7" name="Google Shape;147;p3"/>
          <p:cNvSpPr txBox="1"/>
          <p:nvPr/>
        </p:nvSpPr>
        <p:spPr>
          <a:xfrm>
            <a:off x="731520" y="5486400"/>
            <a:ext cx="10698480" cy="68580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i="0" lang="en-US" sz="1800" u="none" cap="none" strike="noStrike">
                <a:solidFill>
                  <a:srgbClr val="1A2674"/>
                </a:solidFill>
                <a:latin typeface="Arial"/>
                <a:ea typeface="Arial"/>
                <a:cs typeface="Arial"/>
                <a:sym typeface="Arial"/>
              </a:rPr>
              <a:t>Métrica principal: utilidad neta acumulada   ·   Parte 1: sin Machine Learning</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4"/>
          <p:cNvSpPr/>
          <p:nvPr/>
        </p:nvSpPr>
        <p:spPr>
          <a:xfrm>
            <a:off x="0" y="0"/>
            <a:ext cx="12191695" cy="109728"/>
          </a:xfrm>
          <a:prstGeom prst="rect">
            <a:avLst/>
          </a:prstGeom>
          <a:solidFill>
            <a:srgbClr val="1A267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4" name="Google Shape;154;p4"/>
          <p:cNvSpPr/>
          <p:nvPr/>
        </p:nvSpPr>
        <p:spPr>
          <a:xfrm>
            <a:off x="548640" y="502920"/>
            <a:ext cx="82296" cy="868680"/>
          </a:xfrm>
          <a:prstGeom prst="rect">
            <a:avLst/>
          </a:prstGeom>
          <a:solidFill>
            <a:srgbClr val="3AAFE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5" name="Google Shape;155;p4"/>
          <p:cNvSpPr txBox="1"/>
          <p:nvPr/>
        </p:nvSpPr>
        <p:spPr>
          <a:xfrm>
            <a:off x="731520" y="411480"/>
            <a:ext cx="86868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3AAFE5"/>
                </a:solidFill>
                <a:latin typeface="Arial"/>
                <a:ea typeface="Arial"/>
                <a:cs typeface="Arial"/>
                <a:sym typeface="Arial"/>
              </a:rPr>
              <a:t>ARQUITECTURA DEL SISTEMA</a:t>
            </a:r>
            <a:endParaRPr/>
          </a:p>
        </p:txBody>
      </p:sp>
      <p:sp>
        <p:nvSpPr>
          <p:cNvPr id="156" name="Google Shape;156;p4"/>
          <p:cNvSpPr txBox="1"/>
          <p:nvPr/>
        </p:nvSpPr>
        <p:spPr>
          <a:xfrm>
            <a:off x="731520" y="731520"/>
            <a:ext cx="9418320" cy="7315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1A2674"/>
                </a:solidFill>
                <a:latin typeface="Arial"/>
                <a:ea typeface="Arial"/>
                <a:cs typeface="Arial"/>
                <a:sym typeface="Arial"/>
              </a:rPr>
              <a:t>Del dato a la comparación</a:t>
            </a:r>
            <a:endParaRPr/>
          </a:p>
        </p:txBody>
      </p:sp>
      <p:pic>
        <p:nvPicPr>
          <p:cNvPr descr="logo.png" id="157" name="Google Shape;157;p4"/>
          <p:cNvPicPr preferRelativeResize="0"/>
          <p:nvPr/>
        </p:nvPicPr>
        <p:blipFill rotWithShape="1">
          <a:blip r:embed="rId3">
            <a:alphaModFix/>
          </a:blip>
          <a:srcRect b="0" l="0" r="0" t="0"/>
          <a:stretch/>
        </p:blipFill>
        <p:spPr>
          <a:xfrm>
            <a:off x="10744200" y="320040"/>
            <a:ext cx="886008" cy="1051560"/>
          </a:xfrm>
          <a:prstGeom prst="rect">
            <a:avLst/>
          </a:prstGeom>
          <a:noFill/>
          <a:ln>
            <a:noFill/>
          </a:ln>
        </p:spPr>
      </p:pic>
      <p:sp>
        <p:nvSpPr>
          <p:cNvPr id="158" name="Google Shape;158;p4"/>
          <p:cNvSpPr txBox="1"/>
          <p:nvPr/>
        </p:nvSpPr>
        <p:spPr>
          <a:xfrm>
            <a:off x="548640" y="6446520"/>
            <a:ext cx="822960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4A526B"/>
                </a:solidFill>
                <a:latin typeface="Arial"/>
                <a:ea typeface="Arial"/>
                <a:cs typeface="Arial"/>
                <a:sym typeface="Arial"/>
              </a:rPr>
              <a:t>DemandIA Fresh  ·  Equipo 03  ·  Agentes Inteligentes  ·  2026-2</a:t>
            </a:r>
            <a:endParaRPr/>
          </a:p>
        </p:txBody>
      </p:sp>
      <p:sp>
        <p:nvSpPr>
          <p:cNvPr id="159" name="Google Shape;159;p4"/>
          <p:cNvSpPr txBox="1"/>
          <p:nvPr/>
        </p:nvSpPr>
        <p:spPr>
          <a:xfrm>
            <a:off x="10698480" y="6446520"/>
            <a:ext cx="1005840" cy="27432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000" u="none" cap="none" strike="noStrike">
                <a:solidFill>
                  <a:srgbClr val="4A526B"/>
                </a:solidFill>
                <a:latin typeface="Arial"/>
                <a:ea typeface="Arial"/>
                <a:cs typeface="Arial"/>
                <a:sym typeface="Arial"/>
              </a:rPr>
              <a:t>4 / 8</a:t>
            </a:r>
            <a:endParaRPr/>
          </a:p>
        </p:txBody>
      </p:sp>
      <p:sp>
        <p:nvSpPr>
          <p:cNvPr id="160" name="Google Shape;160;p4"/>
          <p:cNvSpPr/>
          <p:nvPr/>
        </p:nvSpPr>
        <p:spPr>
          <a:xfrm>
            <a:off x="594360" y="2651760"/>
            <a:ext cx="1325880" cy="1463040"/>
          </a:xfrm>
          <a:prstGeom prst="roundRect">
            <a:avLst>
              <a:gd fmla="val 8000" name="adj"/>
            </a:avLst>
          </a:prstGeom>
          <a:solidFill>
            <a:srgbClr val="E4F3FB"/>
          </a:solidFill>
          <a:ln cap="flat" cmpd="sng" w="19050">
            <a:solidFill>
              <a:srgbClr val="3AAFE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300" u="none" cap="none" strike="noStrike">
                <a:solidFill>
                  <a:srgbClr val="1A2674"/>
                </a:solidFill>
                <a:latin typeface="Arial"/>
                <a:ea typeface="Arial"/>
                <a:cs typeface="Arial"/>
                <a:sym typeface="Arial"/>
              </a:rPr>
              <a:t>Demanda simulada</a:t>
            </a:r>
            <a:endParaRPr/>
          </a:p>
        </p:txBody>
      </p:sp>
      <p:sp>
        <p:nvSpPr>
          <p:cNvPr id="161" name="Google Shape;161;p4"/>
          <p:cNvSpPr/>
          <p:nvPr/>
        </p:nvSpPr>
        <p:spPr>
          <a:xfrm>
            <a:off x="1947672" y="3200400"/>
            <a:ext cx="201168" cy="365760"/>
          </a:xfrm>
          <a:prstGeom prst="rightArrow">
            <a:avLst>
              <a:gd fmla="val 50000" name="adj1"/>
              <a:gd fmla="val 50000" name="adj2"/>
            </a:avLst>
          </a:prstGeom>
          <a:solidFill>
            <a:srgbClr val="3AAFE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2" name="Google Shape;162;p4"/>
          <p:cNvSpPr/>
          <p:nvPr/>
        </p:nvSpPr>
        <p:spPr>
          <a:xfrm>
            <a:off x="2176272" y="2651760"/>
            <a:ext cx="1325880" cy="1463040"/>
          </a:xfrm>
          <a:prstGeom prst="roundRect">
            <a:avLst>
              <a:gd fmla="val 8000" name="adj"/>
            </a:avLst>
          </a:prstGeom>
          <a:solidFill>
            <a:srgbClr val="E4F3FB"/>
          </a:solidFill>
          <a:ln cap="flat" cmpd="sng" w="19050">
            <a:solidFill>
              <a:srgbClr val="3AAFE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300" u="none" cap="none" strike="noStrike">
                <a:solidFill>
                  <a:srgbClr val="1A2674"/>
                </a:solidFill>
                <a:latin typeface="Arial"/>
                <a:ea typeface="Arial"/>
                <a:cs typeface="Arial"/>
                <a:sym typeface="Arial"/>
              </a:rPr>
              <a:t>Percepción</a:t>
            </a:r>
            <a:endParaRPr/>
          </a:p>
        </p:txBody>
      </p:sp>
      <p:sp>
        <p:nvSpPr>
          <p:cNvPr id="163" name="Google Shape;163;p4"/>
          <p:cNvSpPr/>
          <p:nvPr/>
        </p:nvSpPr>
        <p:spPr>
          <a:xfrm>
            <a:off x="3529584" y="3200400"/>
            <a:ext cx="201168" cy="365760"/>
          </a:xfrm>
          <a:prstGeom prst="rightArrow">
            <a:avLst>
              <a:gd fmla="val 50000" name="adj1"/>
              <a:gd fmla="val 50000" name="adj2"/>
            </a:avLst>
          </a:prstGeom>
          <a:solidFill>
            <a:srgbClr val="3AAFE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4" name="Google Shape;164;p4"/>
          <p:cNvSpPr/>
          <p:nvPr/>
        </p:nvSpPr>
        <p:spPr>
          <a:xfrm>
            <a:off x="3758184" y="2651760"/>
            <a:ext cx="1325880" cy="1463040"/>
          </a:xfrm>
          <a:prstGeom prst="roundRect">
            <a:avLst>
              <a:gd fmla="val 8000" name="adj"/>
            </a:avLst>
          </a:prstGeom>
          <a:solidFill>
            <a:srgbClr val="1A267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300" u="none" cap="none" strike="noStrike">
                <a:solidFill>
                  <a:srgbClr val="FFFFFF"/>
                </a:solidFill>
                <a:latin typeface="Arial"/>
                <a:ea typeface="Arial"/>
                <a:cs typeface="Arial"/>
                <a:sym typeface="Arial"/>
              </a:rPr>
              <a:t>Agente</a:t>
            </a:r>
            <a:endParaRPr/>
          </a:p>
        </p:txBody>
      </p:sp>
      <p:sp>
        <p:nvSpPr>
          <p:cNvPr id="165" name="Google Shape;165;p4"/>
          <p:cNvSpPr/>
          <p:nvPr/>
        </p:nvSpPr>
        <p:spPr>
          <a:xfrm>
            <a:off x="5111496" y="3200400"/>
            <a:ext cx="201168" cy="365760"/>
          </a:xfrm>
          <a:prstGeom prst="rightArrow">
            <a:avLst>
              <a:gd fmla="val 50000" name="adj1"/>
              <a:gd fmla="val 50000" name="adj2"/>
            </a:avLst>
          </a:prstGeom>
          <a:solidFill>
            <a:srgbClr val="3AAFE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6" name="Google Shape;166;p4"/>
          <p:cNvSpPr/>
          <p:nvPr/>
        </p:nvSpPr>
        <p:spPr>
          <a:xfrm>
            <a:off x="5340096" y="2651760"/>
            <a:ext cx="1325880" cy="1463040"/>
          </a:xfrm>
          <a:prstGeom prst="roundRect">
            <a:avLst>
              <a:gd fmla="val 8000" name="adj"/>
            </a:avLst>
          </a:prstGeom>
          <a:solidFill>
            <a:srgbClr val="E4F3FB"/>
          </a:solidFill>
          <a:ln cap="flat" cmpd="sng" w="19050">
            <a:solidFill>
              <a:srgbClr val="3AAFE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300" u="none" cap="none" strike="noStrike">
                <a:solidFill>
                  <a:srgbClr val="1A2674"/>
                </a:solidFill>
                <a:latin typeface="Arial"/>
                <a:ea typeface="Arial"/>
                <a:cs typeface="Arial"/>
                <a:sym typeface="Arial"/>
              </a:rPr>
              <a:t>Decisión de producción</a:t>
            </a:r>
            <a:endParaRPr/>
          </a:p>
        </p:txBody>
      </p:sp>
      <p:sp>
        <p:nvSpPr>
          <p:cNvPr id="167" name="Google Shape;167;p4"/>
          <p:cNvSpPr/>
          <p:nvPr/>
        </p:nvSpPr>
        <p:spPr>
          <a:xfrm>
            <a:off x="6693408" y="3200400"/>
            <a:ext cx="201168" cy="365760"/>
          </a:xfrm>
          <a:prstGeom prst="rightArrow">
            <a:avLst>
              <a:gd fmla="val 50000" name="adj1"/>
              <a:gd fmla="val 50000" name="adj2"/>
            </a:avLst>
          </a:prstGeom>
          <a:solidFill>
            <a:srgbClr val="3AAFE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8" name="Google Shape;168;p4"/>
          <p:cNvSpPr/>
          <p:nvPr/>
        </p:nvSpPr>
        <p:spPr>
          <a:xfrm>
            <a:off x="6922008" y="2651760"/>
            <a:ext cx="1325880" cy="1463040"/>
          </a:xfrm>
          <a:prstGeom prst="roundRect">
            <a:avLst>
              <a:gd fmla="val 8000" name="adj"/>
            </a:avLst>
          </a:prstGeom>
          <a:solidFill>
            <a:srgbClr val="E4F3FB"/>
          </a:solidFill>
          <a:ln cap="flat" cmpd="sng" w="19050">
            <a:solidFill>
              <a:srgbClr val="3AAFE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300" u="none" cap="none" strike="noStrike">
                <a:solidFill>
                  <a:srgbClr val="1A2674"/>
                </a:solidFill>
                <a:latin typeface="Arial"/>
                <a:ea typeface="Arial"/>
                <a:cs typeface="Arial"/>
                <a:sym typeface="Arial"/>
              </a:rPr>
              <a:t>Simulación</a:t>
            </a:r>
            <a:endParaRPr/>
          </a:p>
        </p:txBody>
      </p:sp>
      <p:sp>
        <p:nvSpPr>
          <p:cNvPr id="169" name="Google Shape;169;p4"/>
          <p:cNvSpPr/>
          <p:nvPr/>
        </p:nvSpPr>
        <p:spPr>
          <a:xfrm>
            <a:off x="8275319" y="3200400"/>
            <a:ext cx="201168" cy="365760"/>
          </a:xfrm>
          <a:prstGeom prst="rightArrow">
            <a:avLst>
              <a:gd fmla="val 50000" name="adj1"/>
              <a:gd fmla="val 50000" name="adj2"/>
            </a:avLst>
          </a:prstGeom>
          <a:solidFill>
            <a:srgbClr val="3AAFE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0" name="Google Shape;170;p4"/>
          <p:cNvSpPr/>
          <p:nvPr/>
        </p:nvSpPr>
        <p:spPr>
          <a:xfrm>
            <a:off x="8503920" y="2651760"/>
            <a:ext cx="1325880" cy="1463040"/>
          </a:xfrm>
          <a:prstGeom prst="roundRect">
            <a:avLst>
              <a:gd fmla="val 8000" name="adj"/>
            </a:avLst>
          </a:prstGeom>
          <a:solidFill>
            <a:srgbClr val="E4F3FB"/>
          </a:solidFill>
          <a:ln cap="flat" cmpd="sng" w="19050">
            <a:solidFill>
              <a:srgbClr val="3AAFE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300" u="none" cap="none" strike="noStrike">
                <a:solidFill>
                  <a:srgbClr val="1A2674"/>
                </a:solidFill>
                <a:latin typeface="Arial"/>
                <a:ea typeface="Arial"/>
                <a:cs typeface="Arial"/>
                <a:sym typeface="Arial"/>
              </a:rPr>
              <a:t>Métricas</a:t>
            </a:r>
            <a:endParaRPr/>
          </a:p>
        </p:txBody>
      </p:sp>
      <p:sp>
        <p:nvSpPr>
          <p:cNvPr id="171" name="Google Shape;171;p4"/>
          <p:cNvSpPr/>
          <p:nvPr/>
        </p:nvSpPr>
        <p:spPr>
          <a:xfrm>
            <a:off x="9857232" y="3200400"/>
            <a:ext cx="201168" cy="365760"/>
          </a:xfrm>
          <a:prstGeom prst="rightArrow">
            <a:avLst>
              <a:gd fmla="val 50000" name="adj1"/>
              <a:gd fmla="val 50000" name="adj2"/>
            </a:avLst>
          </a:prstGeom>
          <a:solidFill>
            <a:srgbClr val="3AAFE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2" name="Google Shape;172;p4"/>
          <p:cNvSpPr/>
          <p:nvPr/>
        </p:nvSpPr>
        <p:spPr>
          <a:xfrm>
            <a:off x="10085832" y="2651760"/>
            <a:ext cx="1325880" cy="1463040"/>
          </a:xfrm>
          <a:prstGeom prst="roundRect">
            <a:avLst>
              <a:gd fmla="val 8000" name="adj"/>
            </a:avLst>
          </a:prstGeom>
          <a:solidFill>
            <a:srgbClr val="1A267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300" u="none" cap="none" strike="noStrike">
                <a:solidFill>
                  <a:srgbClr val="FFFFFF"/>
                </a:solidFill>
                <a:latin typeface="Arial"/>
                <a:ea typeface="Arial"/>
                <a:cs typeface="Arial"/>
                <a:sym typeface="Arial"/>
              </a:rPr>
              <a:t>Comparación</a:t>
            </a:r>
            <a:endParaRPr/>
          </a:p>
        </p:txBody>
      </p:sp>
      <p:sp>
        <p:nvSpPr>
          <p:cNvPr id="173" name="Google Shape;173;p4"/>
          <p:cNvSpPr/>
          <p:nvPr/>
        </p:nvSpPr>
        <p:spPr>
          <a:xfrm>
            <a:off x="3657600" y="4389120"/>
            <a:ext cx="1417320" cy="502920"/>
          </a:xfrm>
          <a:prstGeom prst="roundRect">
            <a:avLst>
              <a:gd fmla="val 8000" name="adj"/>
            </a:avLst>
          </a:prstGeom>
          <a:solidFill>
            <a:srgbClr val="E4F3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4" name="Google Shape;174;p4"/>
          <p:cNvSpPr txBox="1"/>
          <p:nvPr/>
        </p:nvSpPr>
        <p:spPr>
          <a:xfrm>
            <a:off x="3657600" y="4389120"/>
            <a:ext cx="1417320" cy="50292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i="0" lang="en-US" sz="1400" u="none" cap="none" strike="noStrike">
                <a:solidFill>
                  <a:srgbClr val="1A2674"/>
                </a:solidFill>
                <a:latin typeface="Arial"/>
                <a:ea typeface="Arial"/>
                <a:cs typeface="Arial"/>
                <a:sym typeface="Arial"/>
              </a:rPr>
              <a:t>Base</a:t>
            </a:r>
            <a:endParaRPr/>
          </a:p>
        </p:txBody>
      </p:sp>
      <p:sp>
        <p:nvSpPr>
          <p:cNvPr id="175" name="Google Shape;175;p4"/>
          <p:cNvSpPr/>
          <p:nvPr/>
        </p:nvSpPr>
        <p:spPr>
          <a:xfrm>
            <a:off x="5257800" y="4389120"/>
            <a:ext cx="1417320" cy="502920"/>
          </a:xfrm>
          <a:prstGeom prst="roundRect">
            <a:avLst>
              <a:gd fmla="val 8000" name="adj"/>
            </a:avLst>
          </a:prstGeom>
          <a:solidFill>
            <a:srgbClr val="E4F3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6" name="Google Shape;176;p4"/>
          <p:cNvSpPr txBox="1"/>
          <p:nvPr/>
        </p:nvSpPr>
        <p:spPr>
          <a:xfrm>
            <a:off x="5257800" y="4389120"/>
            <a:ext cx="1417320" cy="50292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i="0" lang="en-US" sz="1400" u="none" cap="none" strike="noStrike">
                <a:solidFill>
                  <a:srgbClr val="1A2674"/>
                </a:solidFill>
                <a:latin typeface="Arial"/>
                <a:ea typeface="Arial"/>
                <a:cs typeface="Arial"/>
                <a:sym typeface="Arial"/>
              </a:rPr>
              <a:t>Reactivo</a:t>
            </a:r>
            <a:endParaRPr/>
          </a:p>
        </p:txBody>
      </p:sp>
      <p:sp>
        <p:nvSpPr>
          <p:cNvPr id="177" name="Google Shape;177;p4"/>
          <p:cNvSpPr/>
          <p:nvPr/>
        </p:nvSpPr>
        <p:spPr>
          <a:xfrm>
            <a:off x="6858000" y="4389120"/>
            <a:ext cx="1417320" cy="502920"/>
          </a:xfrm>
          <a:prstGeom prst="roundRect">
            <a:avLst>
              <a:gd fmla="val 8000" name="adj"/>
            </a:avLst>
          </a:prstGeom>
          <a:solidFill>
            <a:srgbClr val="3AAFE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8" name="Google Shape;178;p4"/>
          <p:cNvSpPr txBox="1"/>
          <p:nvPr/>
        </p:nvSpPr>
        <p:spPr>
          <a:xfrm>
            <a:off x="6858000" y="4389120"/>
            <a:ext cx="1417320" cy="50292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i="0" lang="en-US" sz="1400" u="none" cap="none" strike="noStrike">
                <a:solidFill>
                  <a:srgbClr val="FFFFFF"/>
                </a:solidFill>
                <a:latin typeface="Arial"/>
                <a:ea typeface="Arial"/>
                <a:cs typeface="Arial"/>
                <a:sym typeface="Arial"/>
              </a:rPr>
              <a:t>Utilidad</a:t>
            </a:r>
            <a:endParaRPr/>
          </a:p>
        </p:txBody>
      </p:sp>
      <p:sp>
        <p:nvSpPr>
          <p:cNvPr id="179" name="Google Shape;179;p4"/>
          <p:cNvSpPr txBox="1"/>
          <p:nvPr/>
        </p:nvSpPr>
        <p:spPr>
          <a:xfrm>
            <a:off x="731520" y="5166360"/>
            <a:ext cx="10698600" cy="8928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rgbClr val="1A2674"/>
                </a:solidFill>
              </a:rPr>
              <a:t>Las tres estategias deciden sin conocer la demanda del día y enfrentan la misma secuencia de demanda</a:t>
            </a:r>
            <a:endParaRPr/>
          </a:p>
          <a:p>
            <a:pPr indent="0" lvl="0" marL="0" marR="0" rtl="0" algn="ctr">
              <a:spcBef>
                <a:spcPts val="0"/>
              </a:spcBef>
              <a:spcAft>
                <a:spcPts val="0"/>
              </a:spcAft>
              <a:buNone/>
            </a:pPr>
            <a:r>
              <a:rPr b="0" i="0" lang="en-US" sz="1600" u="none" cap="none" strike="noStrike">
                <a:solidFill>
                  <a:srgbClr val="4A526B"/>
                </a:solidFill>
                <a:latin typeface="Arial"/>
                <a:ea typeface="Arial"/>
                <a:cs typeface="Arial"/>
                <a:sym typeface="Arial"/>
              </a:rPr>
              <a:t>Semilla fija = resultados reproducibles.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5"/>
          <p:cNvSpPr/>
          <p:nvPr/>
        </p:nvSpPr>
        <p:spPr>
          <a:xfrm>
            <a:off x="0" y="0"/>
            <a:ext cx="12191695" cy="109728"/>
          </a:xfrm>
          <a:prstGeom prst="rect">
            <a:avLst/>
          </a:prstGeom>
          <a:solidFill>
            <a:srgbClr val="1A267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6" name="Google Shape;186;p5"/>
          <p:cNvSpPr/>
          <p:nvPr/>
        </p:nvSpPr>
        <p:spPr>
          <a:xfrm>
            <a:off x="548640" y="502920"/>
            <a:ext cx="82296" cy="868680"/>
          </a:xfrm>
          <a:prstGeom prst="rect">
            <a:avLst/>
          </a:prstGeom>
          <a:solidFill>
            <a:srgbClr val="3AAFE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7" name="Google Shape;187;p5"/>
          <p:cNvSpPr txBox="1"/>
          <p:nvPr/>
        </p:nvSpPr>
        <p:spPr>
          <a:xfrm>
            <a:off x="731520" y="411480"/>
            <a:ext cx="86868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3AAFE5"/>
                </a:solidFill>
                <a:latin typeface="Arial"/>
                <a:ea typeface="Arial"/>
                <a:cs typeface="Arial"/>
                <a:sym typeface="Arial"/>
              </a:rPr>
              <a:t>ESTRATEGIAS COMPARADAS</a:t>
            </a:r>
            <a:endParaRPr/>
          </a:p>
        </p:txBody>
      </p:sp>
      <p:sp>
        <p:nvSpPr>
          <p:cNvPr id="188" name="Google Shape;188;p5"/>
          <p:cNvSpPr txBox="1"/>
          <p:nvPr/>
        </p:nvSpPr>
        <p:spPr>
          <a:xfrm>
            <a:off x="731520" y="731520"/>
            <a:ext cx="9418320" cy="7315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1A2674"/>
                </a:solidFill>
                <a:latin typeface="Arial"/>
                <a:ea typeface="Arial"/>
                <a:cs typeface="Arial"/>
                <a:sym typeface="Arial"/>
              </a:rPr>
              <a:t>¿Cómo decide cada una?</a:t>
            </a:r>
            <a:endParaRPr/>
          </a:p>
        </p:txBody>
      </p:sp>
      <p:pic>
        <p:nvPicPr>
          <p:cNvPr descr="logo.png" id="189" name="Google Shape;189;p5"/>
          <p:cNvPicPr preferRelativeResize="0"/>
          <p:nvPr/>
        </p:nvPicPr>
        <p:blipFill rotWithShape="1">
          <a:blip r:embed="rId3">
            <a:alphaModFix/>
          </a:blip>
          <a:srcRect b="0" l="0" r="0" t="0"/>
          <a:stretch/>
        </p:blipFill>
        <p:spPr>
          <a:xfrm>
            <a:off x="10744200" y="320040"/>
            <a:ext cx="886008" cy="1051560"/>
          </a:xfrm>
          <a:prstGeom prst="rect">
            <a:avLst/>
          </a:prstGeom>
          <a:noFill/>
          <a:ln>
            <a:noFill/>
          </a:ln>
        </p:spPr>
      </p:pic>
      <p:sp>
        <p:nvSpPr>
          <p:cNvPr id="190" name="Google Shape;190;p5"/>
          <p:cNvSpPr txBox="1"/>
          <p:nvPr/>
        </p:nvSpPr>
        <p:spPr>
          <a:xfrm>
            <a:off x="548640" y="6446520"/>
            <a:ext cx="822960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4A526B"/>
                </a:solidFill>
                <a:latin typeface="Arial"/>
                <a:ea typeface="Arial"/>
                <a:cs typeface="Arial"/>
                <a:sym typeface="Arial"/>
              </a:rPr>
              <a:t>DemandIA Fresh  ·  Equipo 03  ·  Agentes Inteligentes  ·  2026-2</a:t>
            </a:r>
            <a:endParaRPr/>
          </a:p>
        </p:txBody>
      </p:sp>
      <p:sp>
        <p:nvSpPr>
          <p:cNvPr id="191" name="Google Shape;191;p5"/>
          <p:cNvSpPr txBox="1"/>
          <p:nvPr/>
        </p:nvSpPr>
        <p:spPr>
          <a:xfrm>
            <a:off x="10698480" y="6446520"/>
            <a:ext cx="1005840" cy="27432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000" u="none" cap="none" strike="noStrike">
                <a:solidFill>
                  <a:srgbClr val="4A526B"/>
                </a:solidFill>
                <a:latin typeface="Arial"/>
                <a:ea typeface="Arial"/>
                <a:cs typeface="Arial"/>
                <a:sym typeface="Arial"/>
              </a:rPr>
              <a:t>5 / 8</a:t>
            </a:r>
            <a:endParaRPr/>
          </a:p>
        </p:txBody>
      </p:sp>
      <p:sp>
        <p:nvSpPr>
          <p:cNvPr id="192" name="Google Shape;192;p5"/>
          <p:cNvSpPr/>
          <p:nvPr/>
        </p:nvSpPr>
        <p:spPr>
          <a:xfrm>
            <a:off x="731520" y="1737360"/>
            <a:ext cx="10698480" cy="548640"/>
          </a:xfrm>
          <a:prstGeom prst="roundRect">
            <a:avLst>
              <a:gd fmla="val 15000" name="adj"/>
            </a:avLst>
          </a:prstGeom>
          <a:solidFill>
            <a:srgbClr val="1A267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3" name="Google Shape;193;p5"/>
          <p:cNvSpPr txBox="1"/>
          <p:nvPr/>
        </p:nvSpPr>
        <p:spPr>
          <a:xfrm>
            <a:off x="914400" y="1737360"/>
            <a:ext cx="2743200" cy="54864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FFFFFF"/>
                </a:solidFill>
                <a:latin typeface="Arial"/>
                <a:ea typeface="Arial"/>
                <a:cs typeface="Arial"/>
                <a:sym typeface="Arial"/>
              </a:rPr>
              <a:t>Estrategia</a:t>
            </a:r>
            <a:endParaRPr/>
          </a:p>
        </p:txBody>
      </p:sp>
      <p:sp>
        <p:nvSpPr>
          <p:cNvPr id="194" name="Google Shape;194;p5"/>
          <p:cNvSpPr txBox="1"/>
          <p:nvPr/>
        </p:nvSpPr>
        <p:spPr>
          <a:xfrm>
            <a:off x="3931920" y="1737360"/>
            <a:ext cx="6858000" cy="54864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FFFFFF"/>
                </a:solidFill>
                <a:latin typeface="Arial"/>
                <a:ea typeface="Arial"/>
                <a:cs typeface="Arial"/>
                <a:sym typeface="Arial"/>
              </a:rPr>
              <a:t>Cómo decide</a:t>
            </a:r>
            <a:endParaRPr/>
          </a:p>
        </p:txBody>
      </p:sp>
      <p:sp>
        <p:nvSpPr>
          <p:cNvPr id="195" name="Google Shape;195;p5"/>
          <p:cNvSpPr/>
          <p:nvPr/>
        </p:nvSpPr>
        <p:spPr>
          <a:xfrm>
            <a:off x="731520" y="2468880"/>
            <a:ext cx="10698480" cy="1097280"/>
          </a:xfrm>
          <a:prstGeom prst="roundRect">
            <a:avLst>
              <a:gd fmla="val 8000" name="adj"/>
            </a:avLst>
          </a:prstGeom>
          <a:solidFill>
            <a:srgbClr val="E4F3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6" name="Google Shape;196;p5"/>
          <p:cNvSpPr/>
          <p:nvPr/>
        </p:nvSpPr>
        <p:spPr>
          <a:xfrm>
            <a:off x="731520" y="2468880"/>
            <a:ext cx="2651760" cy="1097280"/>
          </a:xfrm>
          <a:prstGeom prst="roundRect">
            <a:avLst>
              <a:gd fmla="val 8000" name="adj"/>
            </a:avLst>
          </a:prstGeom>
          <a:solidFill>
            <a:srgbClr val="1A267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7" name="Google Shape;197;p5"/>
          <p:cNvSpPr txBox="1"/>
          <p:nvPr/>
        </p:nvSpPr>
        <p:spPr>
          <a:xfrm>
            <a:off x="731520" y="2468880"/>
            <a:ext cx="2651760" cy="109728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i="0" lang="en-US" sz="2600" u="none" cap="none" strike="noStrike">
                <a:solidFill>
                  <a:srgbClr val="FFFFFF"/>
                </a:solidFill>
                <a:latin typeface="Arial"/>
                <a:ea typeface="Arial"/>
                <a:cs typeface="Arial"/>
                <a:sym typeface="Arial"/>
              </a:rPr>
              <a:t>Base</a:t>
            </a:r>
            <a:endParaRPr/>
          </a:p>
        </p:txBody>
      </p:sp>
      <p:sp>
        <p:nvSpPr>
          <p:cNvPr id="198" name="Google Shape;198;p5"/>
          <p:cNvSpPr txBox="1"/>
          <p:nvPr/>
        </p:nvSpPr>
        <p:spPr>
          <a:xfrm>
            <a:off x="3657600" y="2560320"/>
            <a:ext cx="7589520" cy="91440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1" i="0" lang="en-US" sz="2200" u="none" cap="none" strike="noStrike">
                <a:solidFill>
                  <a:srgbClr val="1A2674"/>
                </a:solidFill>
                <a:latin typeface="Arial"/>
                <a:ea typeface="Arial"/>
                <a:cs typeface="Arial"/>
                <a:sym typeface="Arial"/>
              </a:rPr>
              <a:t>Produce fijo</a:t>
            </a:r>
            <a:endParaRPr/>
          </a:p>
          <a:p>
            <a:pPr indent="0" lvl="0" marL="0" marR="0" rtl="0" algn="l">
              <a:spcBef>
                <a:spcPts val="0"/>
              </a:spcBef>
              <a:spcAft>
                <a:spcPts val="0"/>
              </a:spcAft>
              <a:buNone/>
            </a:pPr>
            <a:r>
              <a:rPr b="0" i="0" lang="en-US" sz="1500" u="none" cap="none" strike="noStrike">
                <a:solidFill>
                  <a:srgbClr val="4A526B"/>
                </a:solidFill>
                <a:latin typeface="Arial"/>
                <a:ea typeface="Arial"/>
                <a:cs typeface="Arial"/>
                <a:sym typeface="Arial"/>
              </a:rPr>
              <a:t>100 unidades todos los días</a:t>
            </a:r>
            <a:endParaRPr/>
          </a:p>
        </p:txBody>
      </p:sp>
      <p:sp>
        <p:nvSpPr>
          <p:cNvPr id="199" name="Google Shape;199;p5"/>
          <p:cNvSpPr/>
          <p:nvPr/>
        </p:nvSpPr>
        <p:spPr>
          <a:xfrm>
            <a:off x="731520" y="3703320"/>
            <a:ext cx="10698480" cy="1097280"/>
          </a:xfrm>
          <a:prstGeom prst="roundRect">
            <a:avLst>
              <a:gd fmla="val 8000" name="adj"/>
            </a:avLst>
          </a:prstGeom>
          <a:solidFill>
            <a:srgbClr val="E4F3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0" name="Google Shape;200;p5"/>
          <p:cNvSpPr/>
          <p:nvPr/>
        </p:nvSpPr>
        <p:spPr>
          <a:xfrm>
            <a:off x="731520" y="3703320"/>
            <a:ext cx="2651760" cy="1097280"/>
          </a:xfrm>
          <a:prstGeom prst="roundRect">
            <a:avLst>
              <a:gd fmla="val 8000" name="adj"/>
            </a:avLst>
          </a:prstGeom>
          <a:solidFill>
            <a:srgbClr val="1A267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1" name="Google Shape;201;p5"/>
          <p:cNvSpPr txBox="1"/>
          <p:nvPr/>
        </p:nvSpPr>
        <p:spPr>
          <a:xfrm>
            <a:off x="731520" y="3703320"/>
            <a:ext cx="2651760" cy="109728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i="0" lang="en-US" sz="2600" u="none" cap="none" strike="noStrike">
                <a:solidFill>
                  <a:srgbClr val="FFFFFF"/>
                </a:solidFill>
                <a:latin typeface="Arial"/>
                <a:ea typeface="Arial"/>
                <a:cs typeface="Arial"/>
                <a:sym typeface="Arial"/>
              </a:rPr>
              <a:t>Reactivo</a:t>
            </a:r>
            <a:endParaRPr/>
          </a:p>
        </p:txBody>
      </p:sp>
      <p:sp>
        <p:nvSpPr>
          <p:cNvPr id="202" name="Google Shape;202;p5"/>
          <p:cNvSpPr txBox="1"/>
          <p:nvPr/>
        </p:nvSpPr>
        <p:spPr>
          <a:xfrm>
            <a:off x="3657600" y="3794760"/>
            <a:ext cx="7589520" cy="91440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1" i="0" lang="en-US" sz="2200" u="none" cap="none" strike="noStrike">
                <a:solidFill>
                  <a:srgbClr val="1A2674"/>
                </a:solidFill>
                <a:latin typeface="Arial"/>
                <a:ea typeface="Arial"/>
                <a:cs typeface="Arial"/>
                <a:sym typeface="Arial"/>
              </a:rPr>
              <a:t>Usa reglas IF-THEN</a:t>
            </a:r>
            <a:endParaRPr/>
          </a:p>
          <a:p>
            <a:pPr indent="0" lvl="0" marL="0" marR="0" rtl="0" algn="l">
              <a:spcBef>
                <a:spcPts val="0"/>
              </a:spcBef>
              <a:spcAft>
                <a:spcPts val="0"/>
              </a:spcAft>
              <a:buNone/>
            </a:pPr>
            <a:r>
              <a:rPr b="0" i="0" lang="en-US" sz="1500" u="none" cap="none" strike="noStrike">
                <a:solidFill>
                  <a:srgbClr val="4A526B"/>
                </a:solidFill>
                <a:latin typeface="Arial"/>
                <a:ea typeface="Arial"/>
                <a:cs typeface="Arial"/>
                <a:sym typeface="Arial"/>
              </a:rPr>
              <a:t>Vendió ≥ 95 % → produce 10 % más  ·  Vendió ≤ 75 % → produce 10 % menos</a:t>
            </a:r>
            <a:endParaRPr/>
          </a:p>
        </p:txBody>
      </p:sp>
      <p:sp>
        <p:nvSpPr>
          <p:cNvPr id="203" name="Google Shape;203;p5"/>
          <p:cNvSpPr/>
          <p:nvPr/>
        </p:nvSpPr>
        <p:spPr>
          <a:xfrm>
            <a:off x="731520" y="4937760"/>
            <a:ext cx="10698480" cy="1097280"/>
          </a:xfrm>
          <a:prstGeom prst="roundRect">
            <a:avLst>
              <a:gd fmla="val 8000" name="adj"/>
            </a:avLst>
          </a:prstGeom>
          <a:solidFill>
            <a:srgbClr val="CFEAF8"/>
          </a:solidFill>
          <a:ln cap="flat" cmpd="sng" w="19050">
            <a:solidFill>
              <a:srgbClr val="3AAFE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4" name="Google Shape;204;p5"/>
          <p:cNvSpPr/>
          <p:nvPr/>
        </p:nvSpPr>
        <p:spPr>
          <a:xfrm>
            <a:off x="731520" y="4937760"/>
            <a:ext cx="2651760" cy="1097280"/>
          </a:xfrm>
          <a:prstGeom prst="roundRect">
            <a:avLst>
              <a:gd fmla="val 8000" name="adj"/>
            </a:avLst>
          </a:prstGeom>
          <a:solidFill>
            <a:srgbClr val="3AAFE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5" name="Google Shape;205;p5"/>
          <p:cNvSpPr txBox="1"/>
          <p:nvPr/>
        </p:nvSpPr>
        <p:spPr>
          <a:xfrm>
            <a:off x="731520" y="4937760"/>
            <a:ext cx="2651760" cy="109728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i="0" lang="en-US" sz="2600" u="none" cap="none" strike="noStrike">
                <a:solidFill>
                  <a:srgbClr val="FFFFFF"/>
                </a:solidFill>
                <a:latin typeface="Arial"/>
                <a:ea typeface="Arial"/>
                <a:cs typeface="Arial"/>
                <a:sym typeface="Arial"/>
              </a:rPr>
              <a:t>Utilidad</a:t>
            </a:r>
            <a:endParaRPr/>
          </a:p>
        </p:txBody>
      </p:sp>
      <p:sp>
        <p:nvSpPr>
          <p:cNvPr id="206" name="Google Shape;206;p5"/>
          <p:cNvSpPr txBox="1"/>
          <p:nvPr/>
        </p:nvSpPr>
        <p:spPr>
          <a:xfrm>
            <a:off x="3657600" y="5029200"/>
            <a:ext cx="7589400" cy="89280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1" i="0" lang="en-US" sz="2200" u="none" cap="none" strike="noStrike">
                <a:solidFill>
                  <a:srgbClr val="1A2674"/>
                </a:solidFill>
                <a:latin typeface="Arial"/>
                <a:ea typeface="Arial"/>
                <a:cs typeface="Arial"/>
                <a:sym typeface="Arial"/>
              </a:rPr>
              <a:t>Evalúa cantidades y maximiza la utilidad esperada</a:t>
            </a:r>
            <a:endParaRPr/>
          </a:p>
          <a:p>
            <a:pPr indent="0" lvl="0" marL="0" marR="0" rtl="0" algn="l">
              <a:spcBef>
                <a:spcPts val="0"/>
              </a:spcBef>
              <a:spcAft>
                <a:spcPts val="0"/>
              </a:spcAft>
              <a:buNone/>
            </a:pPr>
            <a:r>
              <a:rPr lang="en-US" sz="1500">
                <a:solidFill>
                  <a:srgbClr val="4A526B"/>
                </a:solidFill>
              </a:rPr>
              <a:t>Con los valores por defecto prueba de 40 a 180 unidades (40 %–180 % de la demanda promedio) usando los últimos 7 días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6"/>
          <p:cNvSpPr/>
          <p:nvPr/>
        </p:nvSpPr>
        <p:spPr>
          <a:xfrm>
            <a:off x="0" y="0"/>
            <a:ext cx="12191695" cy="109728"/>
          </a:xfrm>
          <a:prstGeom prst="rect">
            <a:avLst/>
          </a:prstGeom>
          <a:solidFill>
            <a:srgbClr val="1A267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3" name="Google Shape;213;p6"/>
          <p:cNvSpPr/>
          <p:nvPr/>
        </p:nvSpPr>
        <p:spPr>
          <a:xfrm>
            <a:off x="548640" y="502920"/>
            <a:ext cx="82296" cy="868680"/>
          </a:xfrm>
          <a:prstGeom prst="rect">
            <a:avLst/>
          </a:prstGeom>
          <a:solidFill>
            <a:srgbClr val="3AAFE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4" name="Google Shape;214;p6"/>
          <p:cNvSpPr txBox="1"/>
          <p:nvPr/>
        </p:nvSpPr>
        <p:spPr>
          <a:xfrm>
            <a:off x="731520" y="411480"/>
            <a:ext cx="86868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3AAFE5"/>
                </a:solidFill>
                <a:latin typeface="Arial"/>
                <a:ea typeface="Arial"/>
                <a:cs typeface="Arial"/>
                <a:sym typeface="Arial"/>
              </a:rPr>
              <a:t>RESULTADOS PRINCIPALES</a:t>
            </a:r>
            <a:endParaRPr/>
          </a:p>
        </p:txBody>
      </p:sp>
      <p:sp>
        <p:nvSpPr>
          <p:cNvPr id="215" name="Google Shape;215;p6"/>
          <p:cNvSpPr txBox="1"/>
          <p:nvPr/>
        </p:nvSpPr>
        <p:spPr>
          <a:xfrm>
            <a:off x="731520" y="731520"/>
            <a:ext cx="9418320" cy="7315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1A2674"/>
                </a:solidFill>
                <a:latin typeface="Arial"/>
                <a:ea typeface="Arial"/>
                <a:cs typeface="Arial"/>
                <a:sym typeface="Arial"/>
              </a:rPr>
              <a:t>El agente de utilidad gana</a:t>
            </a:r>
            <a:endParaRPr/>
          </a:p>
        </p:txBody>
      </p:sp>
      <p:pic>
        <p:nvPicPr>
          <p:cNvPr descr="logo.png" id="216" name="Google Shape;216;p6"/>
          <p:cNvPicPr preferRelativeResize="0"/>
          <p:nvPr/>
        </p:nvPicPr>
        <p:blipFill rotWithShape="1">
          <a:blip r:embed="rId3">
            <a:alphaModFix/>
          </a:blip>
          <a:srcRect b="0" l="0" r="0" t="0"/>
          <a:stretch/>
        </p:blipFill>
        <p:spPr>
          <a:xfrm>
            <a:off x="10744200" y="320040"/>
            <a:ext cx="886008" cy="1051560"/>
          </a:xfrm>
          <a:prstGeom prst="rect">
            <a:avLst/>
          </a:prstGeom>
          <a:noFill/>
          <a:ln>
            <a:noFill/>
          </a:ln>
        </p:spPr>
      </p:pic>
      <p:sp>
        <p:nvSpPr>
          <p:cNvPr id="217" name="Google Shape;217;p6"/>
          <p:cNvSpPr txBox="1"/>
          <p:nvPr/>
        </p:nvSpPr>
        <p:spPr>
          <a:xfrm>
            <a:off x="548640" y="6446520"/>
            <a:ext cx="822960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4A526B"/>
                </a:solidFill>
                <a:latin typeface="Arial"/>
                <a:ea typeface="Arial"/>
                <a:cs typeface="Arial"/>
                <a:sym typeface="Arial"/>
              </a:rPr>
              <a:t>DemandIA Fresh  ·  Equipo 03  ·  Agentes Inteligentes  ·  2026-2</a:t>
            </a:r>
            <a:endParaRPr/>
          </a:p>
        </p:txBody>
      </p:sp>
      <p:sp>
        <p:nvSpPr>
          <p:cNvPr id="218" name="Google Shape;218;p6"/>
          <p:cNvSpPr txBox="1"/>
          <p:nvPr/>
        </p:nvSpPr>
        <p:spPr>
          <a:xfrm>
            <a:off x="10698480" y="6446520"/>
            <a:ext cx="1005840" cy="27432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000" u="none" cap="none" strike="noStrike">
                <a:solidFill>
                  <a:srgbClr val="4A526B"/>
                </a:solidFill>
                <a:latin typeface="Arial"/>
                <a:ea typeface="Arial"/>
                <a:cs typeface="Arial"/>
                <a:sym typeface="Arial"/>
              </a:rPr>
              <a:t>6 / 8</a:t>
            </a:r>
            <a:endParaRPr/>
          </a:p>
        </p:txBody>
      </p:sp>
      <p:sp>
        <p:nvSpPr>
          <p:cNvPr id="219" name="Google Shape;219;p6"/>
          <p:cNvSpPr/>
          <p:nvPr/>
        </p:nvSpPr>
        <p:spPr>
          <a:xfrm>
            <a:off x="731520" y="1691640"/>
            <a:ext cx="10698480" cy="548640"/>
          </a:xfrm>
          <a:prstGeom prst="roundRect">
            <a:avLst>
              <a:gd fmla="val 15000" name="adj"/>
            </a:avLst>
          </a:prstGeom>
          <a:solidFill>
            <a:srgbClr val="1A267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0" name="Google Shape;220;p6"/>
          <p:cNvSpPr txBox="1"/>
          <p:nvPr/>
        </p:nvSpPr>
        <p:spPr>
          <a:xfrm>
            <a:off x="822960" y="1691640"/>
            <a:ext cx="3200400" cy="54864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1" i="0" lang="en-US" sz="1500" u="none" cap="none" strike="noStrike">
                <a:solidFill>
                  <a:srgbClr val="FFFFFF"/>
                </a:solidFill>
                <a:latin typeface="Arial"/>
                <a:ea typeface="Arial"/>
                <a:cs typeface="Arial"/>
                <a:sym typeface="Arial"/>
              </a:rPr>
              <a:t>Estrategia</a:t>
            </a:r>
            <a:endParaRPr/>
          </a:p>
        </p:txBody>
      </p:sp>
      <p:sp>
        <p:nvSpPr>
          <p:cNvPr id="221" name="Google Shape;221;p6"/>
          <p:cNvSpPr txBox="1"/>
          <p:nvPr/>
        </p:nvSpPr>
        <p:spPr>
          <a:xfrm>
            <a:off x="4023359" y="1691640"/>
            <a:ext cx="3017520" cy="54864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i="0" lang="en-US" sz="1500" u="none" cap="none" strike="noStrike">
                <a:solidFill>
                  <a:srgbClr val="FFFFFF"/>
                </a:solidFill>
                <a:latin typeface="Arial"/>
                <a:ea typeface="Arial"/>
                <a:cs typeface="Arial"/>
                <a:sym typeface="Arial"/>
              </a:rPr>
              <a:t>Utilidad neta acumulada</a:t>
            </a:r>
            <a:endParaRPr/>
          </a:p>
        </p:txBody>
      </p:sp>
      <p:sp>
        <p:nvSpPr>
          <p:cNvPr id="222" name="Google Shape;222;p6"/>
          <p:cNvSpPr txBox="1"/>
          <p:nvPr/>
        </p:nvSpPr>
        <p:spPr>
          <a:xfrm>
            <a:off x="7040879" y="1691640"/>
            <a:ext cx="1920240" cy="54864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i="0" lang="en-US" sz="1500" u="none" cap="none" strike="noStrike">
                <a:solidFill>
                  <a:srgbClr val="FFFFFF"/>
                </a:solidFill>
                <a:latin typeface="Arial"/>
                <a:ea typeface="Arial"/>
                <a:cs typeface="Arial"/>
                <a:sym typeface="Arial"/>
              </a:rPr>
              <a:t>Desperdicio</a:t>
            </a:r>
            <a:endParaRPr/>
          </a:p>
        </p:txBody>
      </p:sp>
      <p:sp>
        <p:nvSpPr>
          <p:cNvPr id="223" name="Google Shape;223;p6"/>
          <p:cNvSpPr txBox="1"/>
          <p:nvPr/>
        </p:nvSpPr>
        <p:spPr>
          <a:xfrm>
            <a:off x="8961119" y="1691640"/>
            <a:ext cx="2560320" cy="54864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i="0" lang="en-US" sz="1500" u="none" cap="none" strike="noStrike">
                <a:solidFill>
                  <a:srgbClr val="FFFFFF"/>
                </a:solidFill>
                <a:latin typeface="Arial"/>
                <a:ea typeface="Arial"/>
                <a:cs typeface="Arial"/>
                <a:sym typeface="Arial"/>
              </a:rPr>
              <a:t>Nivel de servicio</a:t>
            </a:r>
            <a:endParaRPr/>
          </a:p>
        </p:txBody>
      </p:sp>
      <p:sp>
        <p:nvSpPr>
          <p:cNvPr id="224" name="Google Shape;224;p6"/>
          <p:cNvSpPr/>
          <p:nvPr/>
        </p:nvSpPr>
        <p:spPr>
          <a:xfrm>
            <a:off x="731520" y="2377440"/>
            <a:ext cx="10698480" cy="822960"/>
          </a:xfrm>
          <a:prstGeom prst="roundRect">
            <a:avLst>
              <a:gd fmla="val 8000" name="adj"/>
            </a:avLst>
          </a:prstGeom>
          <a:solidFill>
            <a:srgbClr val="E4F3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5" name="Google Shape;225;p6"/>
          <p:cNvSpPr txBox="1"/>
          <p:nvPr/>
        </p:nvSpPr>
        <p:spPr>
          <a:xfrm>
            <a:off x="822960" y="2377440"/>
            <a:ext cx="3200400" cy="82296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1" i="0" lang="en-US" sz="1800" u="none" cap="none" strike="noStrike">
                <a:solidFill>
                  <a:srgbClr val="1A2674"/>
                </a:solidFill>
                <a:latin typeface="Arial"/>
                <a:ea typeface="Arial"/>
                <a:cs typeface="Arial"/>
                <a:sym typeface="Arial"/>
              </a:rPr>
              <a:t>Base</a:t>
            </a:r>
            <a:endParaRPr/>
          </a:p>
        </p:txBody>
      </p:sp>
      <p:sp>
        <p:nvSpPr>
          <p:cNvPr id="226" name="Google Shape;226;p6"/>
          <p:cNvSpPr txBox="1"/>
          <p:nvPr/>
        </p:nvSpPr>
        <p:spPr>
          <a:xfrm>
            <a:off x="4023359" y="2377440"/>
            <a:ext cx="3017520" cy="82296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i="0" lang="en-US" sz="2400" u="none" cap="none" strike="noStrike">
                <a:solidFill>
                  <a:srgbClr val="1A2674"/>
                </a:solidFill>
                <a:latin typeface="Arial"/>
                <a:ea typeface="Arial"/>
                <a:cs typeface="Arial"/>
                <a:sym typeface="Arial"/>
              </a:rPr>
              <a:t>S/ 20,682</a:t>
            </a:r>
            <a:endParaRPr/>
          </a:p>
        </p:txBody>
      </p:sp>
      <p:sp>
        <p:nvSpPr>
          <p:cNvPr id="227" name="Google Shape;227;p6"/>
          <p:cNvSpPr txBox="1"/>
          <p:nvPr/>
        </p:nvSpPr>
        <p:spPr>
          <a:xfrm>
            <a:off x="7040879" y="2377440"/>
            <a:ext cx="1920240" cy="82296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i="0" lang="en-US" sz="2000" u="none" cap="none" strike="noStrike">
                <a:solidFill>
                  <a:srgbClr val="1A2674"/>
                </a:solidFill>
                <a:latin typeface="Arial"/>
                <a:ea typeface="Arial"/>
                <a:cs typeface="Arial"/>
                <a:sym typeface="Arial"/>
              </a:rPr>
              <a:t>79 u.</a:t>
            </a:r>
            <a:endParaRPr/>
          </a:p>
        </p:txBody>
      </p:sp>
      <p:sp>
        <p:nvSpPr>
          <p:cNvPr id="228" name="Google Shape;228;p6"/>
          <p:cNvSpPr txBox="1"/>
          <p:nvPr/>
        </p:nvSpPr>
        <p:spPr>
          <a:xfrm>
            <a:off x="8961119" y="2377440"/>
            <a:ext cx="2560320" cy="82296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i="0" lang="en-US" sz="2000" u="none" cap="none" strike="noStrike">
                <a:solidFill>
                  <a:srgbClr val="1A2674"/>
                </a:solidFill>
                <a:latin typeface="Arial"/>
                <a:ea typeface="Arial"/>
                <a:cs typeface="Arial"/>
                <a:sym typeface="Arial"/>
              </a:rPr>
              <a:t>88.1 %</a:t>
            </a:r>
            <a:endParaRPr/>
          </a:p>
        </p:txBody>
      </p:sp>
      <p:sp>
        <p:nvSpPr>
          <p:cNvPr id="229" name="Google Shape;229;p6"/>
          <p:cNvSpPr/>
          <p:nvPr/>
        </p:nvSpPr>
        <p:spPr>
          <a:xfrm>
            <a:off x="731520" y="3337560"/>
            <a:ext cx="10698480" cy="822960"/>
          </a:xfrm>
          <a:prstGeom prst="roundRect">
            <a:avLst>
              <a:gd fmla="val 8000" name="adj"/>
            </a:avLst>
          </a:prstGeom>
          <a:solidFill>
            <a:srgbClr val="E4F3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0" name="Google Shape;230;p6"/>
          <p:cNvSpPr txBox="1"/>
          <p:nvPr/>
        </p:nvSpPr>
        <p:spPr>
          <a:xfrm>
            <a:off x="822960" y="3337560"/>
            <a:ext cx="3200400" cy="82296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1" i="0" lang="en-US" sz="1800" u="none" cap="none" strike="noStrike">
                <a:solidFill>
                  <a:srgbClr val="1A2674"/>
                </a:solidFill>
                <a:latin typeface="Arial"/>
                <a:ea typeface="Arial"/>
                <a:cs typeface="Arial"/>
                <a:sym typeface="Arial"/>
              </a:rPr>
              <a:t>Reactivo</a:t>
            </a:r>
            <a:endParaRPr/>
          </a:p>
        </p:txBody>
      </p:sp>
      <p:sp>
        <p:nvSpPr>
          <p:cNvPr id="231" name="Google Shape;231;p6"/>
          <p:cNvSpPr txBox="1"/>
          <p:nvPr/>
        </p:nvSpPr>
        <p:spPr>
          <a:xfrm>
            <a:off x="4023359" y="3337560"/>
            <a:ext cx="3017520" cy="82296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i="0" lang="en-US" sz="2400" u="none" cap="none" strike="noStrike">
                <a:solidFill>
                  <a:srgbClr val="1A2674"/>
                </a:solidFill>
                <a:latin typeface="Arial"/>
                <a:ea typeface="Arial"/>
                <a:cs typeface="Arial"/>
                <a:sym typeface="Arial"/>
              </a:rPr>
              <a:t>S/ 21,619</a:t>
            </a:r>
            <a:endParaRPr/>
          </a:p>
        </p:txBody>
      </p:sp>
      <p:sp>
        <p:nvSpPr>
          <p:cNvPr id="232" name="Google Shape;232;p6"/>
          <p:cNvSpPr txBox="1"/>
          <p:nvPr/>
        </p:nvSpPr>
        <p:spPr>
          <a:xfrm>
            <a:off x="7040879" y="3337560"/>
            <a:ext cx="1920240" cy="82296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i="0" lang="en-US" sz="2000" u="none" cap="none" strike="noStrike">
                <a:solidFill>
                  <a:srgbClr val="1A2674"/>
                </a:solidFill>
                <a:latin typeface="Arial"/>
                <a:ea typeface="Arial"/>
                <a:cs typeface="Arial"/>
                <a:sym typeface="Arial"/>
              </a:rPr>
              <a:t>505 u.</a:t>
            </a:r>
            <a:endParaRPr/>
          </a:p>
        </p:txBody>
      </p:sp>
      <p:sp>
        <p:nvSpPr>
          <p:cNvPr id="233" name="Google Shape;233;p6"/>
          <p:cNvSpPr txBox="1"/>
          <p:nvPr/>
        </p:nvSpPr>
        <p:spPr>
          <a:xfrm>
            <a:off x="8961119" y="3337560"/>
            <a:ext cx="2560320" cy="82296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i="0" lang="en-US" sz="2000" u="none" cap="none" strike="noStrike">
                <a:solidFill>
                  <a:srgbClr val="1A2674"/>
                </a:solidFill>
                <a:latin typeface="Arial"/>
                <a:ea typeface="Arial"/>
                <a:cs typeface="Arial"/>
                <a:sym typeface="Arial"/>
              </a:rPr>
              <a:t>99.2 %</a:t>
            </a:r>
            <a:endParaRPr/>
          </a:p>
        </p:txBody>
      </p:sp>
      <p:sp>
        <p:nvSpPr>
          <p:cNvPr id="234" name="Google Shape;234;p6"/>
          <p:cNvSpPr/>
          <p:nvPr/>
        </p:nvSpPr>
        <p:spPr>
          <a:xfrm>
            <a:off x="731520" y="4297680"/>
            <a:ext cx="10698480" cy="822960"/>
          </a:xfrm>
          <a:prstGeom prst="roundRect">
            <a:avLst>
              <a:gd fmla="val 8000" name="adj"/>
            </a:avLst>
          </a:prstGeom>
          <a:solidFill>
            <a:srgbClr val="3AAFE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5" name="Google Shape;235;p6"/>
          <p:cNvSpPr txBox="1"/>
          <p:nvPr/>
        </p:nvSpPr>
        <p:spPr>
          <a:xfrm>
            <a:off x="822960" y="4297680"/>
            <a:ext cx="3200400" cy="82296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1" i="0" lang="en-US" sz="1800" u="none" cap="none" strike="noStrike">
                <a:solidFill>
                  <a:srgbClr val="FFFFFF"/>
                </a:solidFill>
                <a:latin typeface="Arial"/>
                <a:ea typeface="Arial"/>
                <a:cs typeface="Arial"/>
                <a:sym typeface="Arial"/>
              </a:rPr>
              <a:t>Utilidad   (GANADOR)</a:t>
            </a:r>
            <a:endParaRPr/>
          </a:p>
        </p:txBody>
      </p:sp>
      <p:sp>
        <p:nvSpPr>
          <p:cNvPr id="236" name="Google Shape;236;p6"/>
          <p:cNvSpPr txBox="1"/>
          <p:nvPr/>
        </p:nvSpPr>
        <p:spPr>
          <a:xfrm>
            <a:off x="4023359" y="4297680"/>
            <a:ext cx="3017520" cy="82296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i="0" lang="en-US" sz="2400" u="none" cap="none" strike="noStrike">
                <a:solidFill>
                  <a:srgbClr val="FFFFFF"/>
                </a:solidFill>
                <a:latin typeface="Arial"/>
                <a:ea typeface="Arial"/>
                <a:cs typeface="Arial"/>
                <a:sym typeface="Arial"/>
              </a:rPr>
              <a:t>S/ 22,488</a:t>
            </a:r>
            <a:endParaRPr/>
          </a:p>
        </p:txBody>
      </p:sp>
      <p:sp>
        <p:nvSpPr>
          <p:cNvPr id="237" name="Google Shape;237;p6"/>
          <p:cNvSpPr txBox="1"/>
          <p:nvPr/>
        </p:nvSpPr>
        <p:spPr>
          <a:xfrm>
            <a:off x="7040879" y="4297680"/>
            <a:ext cx="1920240" cy="82296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i="0" lang="en-US" sz="2000" u="none" cap="none" strike="noStrike">
                <a:solidFill>
                  <a:srgbClr val="FFFFFF"/>
                </a:solidFill>
                <a:latin typeface="Arial"/>
                <a:ea typeface="Arial"/>
                <a:cs typeface="Arial"/>
                <a:sym typeface="Arial"/>
              </a:rPr>
              <a:t>186 u.</a:t>
            </a:r>
            <a:endParaRPr/>
          </a:p>
        </p:txBody>
      </p:sp>
      <p:sp>
        <p:nvSpPr>
          <p:cNvPr id="238" name="Google Shape;238;p6"/>
          <p:cNvSpPr txBox="1"/>
          <p:nvPr/>
        </p:nvSpPr>
        <p:spPr>
          <a:xfrm>
            <a:off x="8961119" y="4297680"/>
            <a:ext cx="2560320" cy="82296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i="0" lang="en-US" sz="2000" u="none" cap="none" strike="noStrike">
                <a:solidFill>
                  <a:srgbClr val="FFFFFF"/>
                </a:solidFill>
                <a:latin typeface="Arial"/>
                <a:ea typeface="Arial"/>
                <a:cs typeface="Arial"/>
                <a:sym typeface="Arial"/>
              </a:rPr>
              <a:t>94.5 %</a:t>
            </a:r>
            <a:endParaRPr/>
          </a:p>
        </p:txBody>
      </p:sp>
      <p:sp>
        <p:nvSpPr>
          <p:cNvPr id="239" name="Google Shape;239;p6"/>
          <p:cNvSpPr/>
          <p:nvPr/>
        </p:nvSpPr>
        <p:spPr>
          <a:xfrm>
            <a:off x="731520" y="5349240"/>
            <a:ext cx="10698480" cy="777240"/>
          </a:xfrm>
          <a:prstGeom prst="roundRect">
            <a:avLst>
              <a:gd fmla="val 8000" name="adj"/>
            </a:avLst>
          </a:prstGeom>
          <a:solidFill>
            <a:srgbClr val="1A267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0" name="Google Shape;240;p6"/>
          <p:cNvSpPr txBox="1"/>
          <p:nvPr/>
        </p:nvSpPr>
        <p:spPr>
          <a:xfrm>
            <a:off x="731520" y="5349240"/>
            <a:ext cx="10698480" cy="77724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i="0" lang="en-US" sz="2000" u="none" cap="none" strike="noStrike">
                <a:solidFill>
                  <a:srgbClr val="FFFFFF"/>
                </a:solidFill>
                <a:latin typeface="Arial"/>
                <a:ea typeface="Arial"/>
                <a:cs typeface="Arial"/>
                <a:sym typeface="Arial"/>
              </a:rPr>
              <a:t>+S/ 1,806 frente al modo base</a:t>
            </a:r>
            <a:endParaRPr/>
          </a:p>
          <a:p>
            <a:pPr indent="0" lvl="0" marL="0" marR="0" rtl="0" algn="ctr">
              <a:spcBef>
                <a:spcPts val="0"/>
              </a:spcBef>
              <a:spcAft>
                <a:spcPts val="0"/>
              </a:spcAft>
              <a:buNone/>
            </a:pPr>
            <a:r>
              <a:rPr b="0" i="0" lang="en-US" sz="1300" u="none" cap="none" strike="noStrike">
                <a:solidFill>
                  <a:srgbClr val="BFE6F8"/>
                </a:solidFill>
                <a:latin typeface="Arial"/>
                <a:ea typeface="Arial"/>
                <a:cs typeface="Arial"/>
                <a:sym typeface="Arial"/>
              </a:rPr>
              <a:t>30 días · semilla 42 · con 30 semillas distintas, Utilidad ganó 93.3 % de las veces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7"/>
          <p:cNvSpPr/>
          <p:nvPr/>
        </p:nvSpPr>
        <p:spPr>
          <a:xfrm>
            <a:off x="0" y="0"/>
            <a:ext cx="12191695" cy="109728"/>
          </a:xfrm>
          <a:prstGeom prst="rect">
            <a:avLst/>
          </a:prstGeom>
          <a:solidFill>
            <a:srgbClr val="1A267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7" name="Google Shape;247;p7"/>
          <p:cNvSpPr/>
          <p:nvPr/>
        </p:nvSpPr>
        <p:spPr>
          <a:xfrm>
            <a:off x="548640" y="502920"/>
            <a:ext cx="82296" cy="868680"/>
          </a:xfrm>
          <a:prstGeom prst="rect">
            <a:avLst/>
          </a:prstGeom>
          <a:solidFill>
            <a:srgbClr val="3AAFE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8" name="Google Shape;248;p7"/>
          <p:cNvSpPr txBox="1"/>
          <p:nvPr/>
        </p:nvSpPr>
        <p:spPr>
          <a:xfrm>
            <a:off x="731520" y="411480"/>
            <a:ext cx="86868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3AAFE5"/>
                </a:solidFill>
                <a:latin typeface="Arial"/>
                <a:ea typeface="Arial"/>
                <a:cs typeface="Arial"/>
                <a:sym typeface="Arial"/>
              </a:rPr>
              <a:t>DEMO EN VIVO</a:t>
            </a:r>
            <a:endParaRPr/>
          </a:p>
        </p:txBody>
      </p:sp>
      <p:sp>
        <p:nvSpPr>
          <p:cNvPr id="249" name="Google Shape;249;p7"/>
          <p:cNvSpPr txBox="1"/>
          <p:nvPr/>
        </p:nvSpPr>
        <p:spPr>
          <a:xfrm>
            <a:off x="731520" y="731520"/>
            <a:ext cx="9418320" cy="7315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1A2674"/>
                </a:solidFill>
                <a:latin typeface="Arial"/>
                <a:ea typeface="Arial"/>
                <a:cs typeface="Arial"/>
                <a:sym typeface="Arial"/>
              </a:rPr>
              <a:t>Pruébalo tú mismo</a:t>
            </a:r>
            <a:endParaRPr/>
          </a:p>
        </p:txBody>
      </p:sp>
      <p:pic>
        <p:nvPicPr>
          <p:cNvPr descr="logo.png" id="250" name="Google Shape;250;p7"/>
          <p:cNvPicPr preferRelativeResize="0"/>
          <p:nvPr/>
        </p:nvPicPr>
        <p:blipFill rotWithShape="1">
          <a:blip r:embed="rId3">
            <a:alphaModFix/>
          </a:blip>
          <a:srcRect b="0" l="0" r="0" t="0"/>
          <a:stretch/>
        </p:blipFill>
        <p:spPr>
          <a:xfrm>
            <a:off x="10744200" y="320040"/>
            <a:ext cx="886008" cy="1051560"/>
          </a:xfrm>
          <a:prstGeom prst="rect">
            <a:avLst/>
          </a:prstGeom>
          <a:noFill/>
          <a:ln>
            <a:noFill/>
          </a:ln>
        </p:spPr>
      </p:pic>
      <p:sp>
        <p:nvSpPr>
          <p:cNvPr id="251" name="Google Shape;251;p7"/>
          <p:cNvSpPr txBox="1"/>
          <p:nvPr/>
        </p:nvSpPr>
        <p:spPr>
          <a:xfrm>
            <a:off x="548640" y="6446520"/>
            <a:ext cx="822960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4A526B"/>
                </a:solidFill>
                <a:latin typeface="Arial"/>
                <a:ea typeface="Arial"/>
                <a:cs typeface="Arial"/>
                <a:sym typeface="Arial"/>
              </a:rPr>
              <a:t>DemandIA Fresh  ·  Equipo 03  ·  Agentes Inteligentes  ·  2026-2</a:t>
            </a:r>
            <a:endParaRPr/>
          </a:p>
        </p:txBody>
      </p:sp>
      <p:sp>
        <p:nvSpPr>
          <p:cNvPr id="252" name="Google Shape;252;p7"/>
          <p:cNvSpPr txBox="1"/>
          <p:nvPr/>
        </p:nvSpPr>
        <p:spPr>
          <a:xfrm>
            <a:off x="10698480" y="6446520"/>
            <a:ext cx="1005840" cy="27432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000" u="none" cap="none" strike="noStrike">
                <a:solidFill>
                  <a:srgbClr val="4A526B"/>
                </a:solidFill>
                <a:latin typeface="Arial"/>
                <a:ea typeface="Arial"/>
                <a:cs typeface="Arial"/>
                <a:sym typeface="Arial"/>
              </a:rPr>
              <a:t>7 / 8</a:t>
            </a:r>
            <a:endParaRPr/>
          </a:p>
        </p:txBody>
      </p:sp>
      <p:sp>
        <p:nvSpPr>
          <p:cNvPr id="253" name="Google Shape;253;p7"/>
          <p:cNvSpPr/>
          <p:nvPr/>
        </p:nvSpPr>
        <p:spPr>
          <a:xfrm>
            <a:off x="731520" y="1737360"/>
            <a:ext cx="6949440" cy="914400"/>
          </a:xfrm>
          <a:prstGeom prst="roundRect">
            <a:avLst>
              <a:gd fmla="val 8000" name="adj"/>
            </a:avLst>
          </a:prstGeom>
          <a:solidFill>
            <a:srgbClr val="1A267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4" name="Google Shape;254;p7"/>
          <p:cNvSpPr txBox="1"/>
          <p:nvPr/>
        </p:nvSpPr>
        <p:spPr>
          <a:xfrm>
            <a:off x="731520" y="1737360"/>
            <a:ext cx="6949440" cy="91440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i="0" lang="en-US" sz="2200" u="none" cap="none" strike="noStrike">
                <a:solidFill>
                  <a:srgbClr val="FFFFFF"/>
                </a:solidFill>
                <a:latin typeface="Arial"/>
                <a:ea typeface="Arial"/>
                <a:cs typeface="Arial"/>
                <a:sym typeface="Arial"/>
              </a:rPr>
              <a:t>https://demandia-fresh-equipo03.streamlit.app</a:t>
            </a:r>
            <a:endParaRPr/>
          </a:p>
        </p:txBody>
      </p:sp>
      <p:sp>
        <p:nvSpPr>
          <p:cNvPr id="255" name="Google Shape;255;p7"/>
          <p:cNvSpPr txBox="1"/>
          <p:nvPr/>
        </p:nvSpPr>
        <p:spPr>
          <a:xfrm>
            <a:off x="731520" y="2880360"/>
            <a:ext cx="694944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u="none" cap="none" strike="noStrike">
                <a:solidFill>
                  <a:srgbClr val="1A2674"/>
                </a:solidFill>
                <a:latin typeface="Arial"/>
                <a:ea typeface="Arial"/>
                <a:cs typeface="Arial"/>
                <a:sym typeface="Arial"/>
              </a:rPr>
              <a:t>En la app se puede cambiar:</a:t>
            </a:r>
            <a:endParaRPr/>
          </a:p>
        </p:txBody>
      </p:sp>
      <p:sp>
        <p:nvSpPr>
          <p:cNvPr id="256" name="Google Shape;256;p7"/>
          <p:cNvSpPr/>
          <p:nvPr/>
        </p:nvSpPr>
        <p:spPr>
          <a:xfrm>
            <a:off x="731520" y="3429000"/>
            <a:ext cx="3383280" cy="731520"/>
          </a:xfrm>
          <a:prstGeom prst="roundRect">
            <a:avLst>
              <a:gd fmla="val 8000" name="adj"/>
            </a:avLst>
          </a:prstGeom>
          <a:solidFill>
            <a:srgbClr val="E4F3FB"/>
          </a:solidFill>
          <a:ln cap="flat" cmpd="sng" w="19050">
            <a:solidFill>
              <a:srgbClr val="3AAFE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7" name="Google Shape;257;p7"/>
          <p:cNvSpPr txBox="1"/>
          <p:nvPr/>
        </p:nvSpPr>
        <p:spPr>
          <a:xfrm>
            <a:off x="731520" y="3429000"/>
            <a:ext cx="3383280" cy="73152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i="0" lang="en-US" sz="1600" u="none" cap="none" strike="noStrike">
                <a:solidFill>
                  <a:srgbClr val="1A2674"/>
                </a:solidFill>
                <a:latin typeface="Arial"/>
                <a:ea typeface="Arial"/>
                <a:cs typeface="Arial"/>
                <a:sym typeface="Arial"/>
              </a:rPr>
              <a:t>Costo de desperdicio</a:t>
            </a:r>
            <a:endParaRPr/>
          </a:p>
        </p:txBody>
      </p:sp>
      <p:sp>
        <p:nvSpPr>
          <p:cNvPr id="258" name="Google Shape;258;p7"/>
          <p:cNvSpPr/>
          <p:nvPr/>
        </p:nvSpPr>
        <p:spPr>
          <a:xfrm>
            <a:off x="4251960" y="3429000"/>
            <a:ext cx="3383280" cy="731520"/>
          </a:xfrm>
          <a:prstGeom prst="roundRect">
            <a:avLst>
              <a:gd fmla="val 8000" name="adj"/>
            </a:avLst>
          </a:prstGeom>
          <a:solidFill>
            <a:srgbClr val="E4F3FB"/>
          </a:solidFill>
          <a:ln cap="flat" cmpd="sng" w="19050">
            <a:solidFill>
              <a:srgbClr val="3AAFE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9" name="Google Shape;259;p7"/>
          <p:cNvSpPr txBox="1"/>
          <p:nvPr/>
        </p:nvSpPr>
        <p:spPr>
          <a:xfrm>
            <a:off x="4251960" y="3429000"/>
            <a:ext cx="3383280" cy="73152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i="0" lang="en-US" sz="1600" u="none" cap="none" strike="noStrike">
                <a:solidFill>
                  <a:srgbClr val="1A2674"/>
                </a:solidFill>
                <a:latin typeface="Arial"/>
                <a:ea typeface="Arial"/>
                <a:cs typeface="Arial"/>
                <a:sym typeface="Arial"/>
              </a:rPr>
              <a:t>Penalización por venta perdida</a:t>
            </a:r>
            <a:endParaRPr/>
          </a:p>
        </p:txBody>
      </p:sp>
      <p:sp>
        <p:nvSpPr>
          <p:cNvPr id="260" name="Google Shape;260;p7"/>
          <p:cNvSpPr/>
          <p:nvPr/>
        </p:nvSpPr>
        <p:spPr>
          <a:xfrm>
            <a:off x="731520" y="4297680"/>
            <a:ext cx="3383280" cy="731520"/>
          </a:xfrm>
          <a:prstGeom prst="roundRect">
            <a:avLst>
              <a:gd fmla="val 8000" name="adj"/>
            </a:avLst>
          </a:prstGeom>
          <a:solidFill>
            <a:srgbClr val="E4F3FB"/>
          </a:solidFill>
          <a:ln cap="flat" cmpd="sng" w="19050">
            <a:solidFill>
              <a:srgbClr val="3AAFE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1" name="Google Shape;261;p7"/>
          <p:cNvSpPr txBox="1"/>
          <p:nvPr/>
        </p:nvSpPr>
        <p:spPr>
          <a:xfrm>
            <a:off x="731520" y="4297680"/>
            <a:ext cx="3383280" cy="73152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i="0" lang="en-US" sz="1600" u="none" cap="none" strike="noStrike">
                <a:solidFill>
                  <a:srgbClr val="1A2674"/>
                </a:solidFill>
                <a:latin typeface="Arial"/>
                <a:ea typeface="Arial"/>
                <a:cs typeface="Arial"/>
                <a:sym typeface="Arial"/>
              </a:rPr>
              <a:t>Semilla</a:t>
            </a:r>
            <a:endParaRPr/>
          </a:p>
        </p:txBody>
      </p:sp>
      <p:sp>
        <p:nvSpPr>
          <p:cNvPr id="262" name="Google Shape;262;p7"/>
          <p:cNvSpPr/>
          <p:nvPr/>
        </p:nvSpPr>
        <p:spPr>
          <a:xfrm>
            <a:off x="4251960" y="4297680"/>
            <a:ext cx="3383280" cy="731520"/>
          </a:xfrm>
          <a:prstGeom prst="roundRect">
            <a:avLst>
              <a:gd fmla="val 8000" name="adj"/>
            </a:avLst>
          </a:prstGeom>
          <a:solidFill>
            <a:srgbClr val="E4F3FB"/>
          </a:solidFill>
          <a:ln cap="flat" cmpd="sng" w="19050">
            <a:solidFill>
              <a:srgbClr val="3AAFE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3" name="Google Shape;263;p7"/>
          <p:cNvSpPr txBox="1"/>
          <p:nvPr/>
        </p:nvSpPr>
        <p:spPr>
          <a:xfrm>
            <a:off x="4251960" y="4297680"/>
            <a:ext cx="3383280" cy="73152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i="0" lang="en-US" sz="1600" u="none" cap="none" strike="noStrike">
                <a:solidFill>
                  <a:srgbClr val="1A2674"/>
                </a:solidFill>
                <a:latin typeface="Arial"/>
                <a:ea typeface="Arial"/>
                <a:cs typeface="Arial"/>
                <a:sym typeface="Arial"/>
              </a:rPr>
              <a:t>Demanda promedio</a:t>
            </a:r>
            <a:endParaRPr/>
          </a:p>
        </p:txBody>
      </p:sp>
      <p:sp>
        <p:nvSpPr>
          <p:cNvPr id="264" name="Google Shape;264;p7"/>
          <p:cNvSpPr txBox="1"/>
          <p:nvPr/>
        </p:nvSpPr>
        <p:spPr>
          <a:xfrm>
            <a:off x="731520" y="5257800"/>
            <a:ext cx="6949440"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1A2674"/>
                </a:solidFill>
                <a:latin typeface="Arial"/>
                <a:ea typeface="Arial"/>
                <a:cs typeface="Arial"/>
                <a:sym typeface="Arial"/>
              </a:rPr>
              <a:t>Luego pulsa «Ejecutar simulación» y compara.</a:t>
            </a:r>
            <a:endParaRPr/>
          </a:p>
          <a:p>
            <a:pPr indent="0" lvl="0" marL="0" marR="0" rtl="0" algn="l">
              <a:spcBef>
                <a:spcPts val="0"/>
              </a:spcBef>
              <a:spcAft>
                <a:spcPts val="0"/>
              </a:spcAft>
              <a:buNone/>
            </a:pPr>
            <a:r>
              <a:rPr b="0" i="0" lang="en-US" sz="1400" u="none" cap="none" strike="noStrike">
                <a:solidFill>
                  <a:srgbClr val="4A526B"/>
                </a:solidFill>
                <a:latin typeface="Arial"/>
                <a:ea typeface="Arial"/>
                <a:cs typeface="Arial"/>
                <a:sym typeface="Arial"/>
              </a:rPr>
              <a:t>Más costo de desperdicio → el agente produce menos</a:t>
            </a:r>
            <a:endParaRPr/>
          </a:p>
          <a:p>
            <a:pPr indent="0" lvl="0" marL="0" marR="0" rtl="0" algn="l">
              <a:spcBef>
                <a:spcPts val="0"/>
              </a:spcBef>
              <a:spcAft>
                <a:spcPts val="0"/>
              </a:spcAft>
              <a:buNone/>
            </a:pPr>
            <a:r>
              <a:rPr b="0" i="0" lang="en-US" sz="1400" u="none" cap="none" strike="noStrike">
                <a:solidFill>
                  <a:srgbClr val="4A526B"/>
                </a:solidFill>
                <a:latin typeface="Arial"/>
                <a:ea typeface="Arial"/>
                <a:cs typeface="Arial"/>
                <a:sym typeface="Arial"/>
              </a:rPr>
              <a:t>Más penalización por venta perdida → produce más</a:t>
            </a:r>
            <a:endParaRPr/>
          </a:p>
        </p:txBody>
      </p:sp>
      <p:sp>
        <p:nvSpPr>
          <p:cNvPr id="265" name="Google Shape;265;p7"/>
          <p:cNvSpPr/>
          <p:nvPr/>
        </p:nvSpPr>
        <p:spPr>
          <a:xfrm>
            <a:off x="8229600" y="1737360"/>
            <a:ext cx="3200400" cy="3566160"/>
          </a:xfrm>
          <a:prstGeom prst="roundRect">
            <a:avLst>
              <a:gd fmla="val 8000" name="adj"/>
            </a:avLst>
          </a:prstGeom>
          <a:solidFill>
            <a:srgbClr val="FFFFFF"/>
          </a:solidFill>
          <a:ln cap="flat" cmpd="sng" w="19050">
            <a:solidFill>
              <a:srgbClr val="3AAFE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qr_demo.png" id="266" name="Google Shape;266;p7"/>
          <p:cNvPicPr preferRelativeResize="0"/>
          <p:nvPr/>
        </p:nvPicPr>
        <p:blipFill rotWithShape="1">
          <a:blip r:embed="rId4">
            <a:alphaModFix/>
          </a:blip>
          <a:srcRect b="0" l="0" r="0" t="0"/>
          <a:stretch/>
        </p:blipFill>
        <p:spPr>
          <a:xfrm>
            <a:off x="8412480" y="1920240"/>
            <a:ext cx="2834640" cy="2834640"/>
          </a:xfrm>
          <a:prstGeom prst="rect">
            <a:avLst/>
          </a:prstGeom>
          <a:noFill/>
          <a:ln>
            <a:noFill/>
          </a:ln>
        </p:spPr>
      </p:pic>
      <p:sp>
        <p:nvSpPr>
          <p:cNvPr id="267" name="Google Shape;267;p7"/>
          <p:cNvSpPr txBox="1"/>
          <p:nvPr/>
        </p:nvSpPr>
        <p:spPr>
          <a:xfrm>
            <a:off x="8229600" y="4800600"/>
            <a:ext cx="3200400" cy="3657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300" u="none" cap="none" strike="noStrike">
                <a:solidFill>
                  <a:srgbClr val="1A2674"/>
                </a:solidFill>
                <a:latin typeface="Arial"/>
                <a:ea typeface="Arial"/>
                <a:cs typeface="Arial"/>
                <a:sym typeface="Arial"/>
              </a:rPr>
              <a:t>Escanea para abrir la app</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8"/>
          <p:cNvSpPr/>
          <p:nvPr/>
        </p:nvSpPr>
        <p:spPr>
          <a:xfrm>
            <a:off x="0" y="0"/>
            <a:ext cx="12191695" cy="109728"/>
          </a:xfrm>
          <a:prstGeom prst="rect">
            <a:avLst/>
          </a:prstGeom>
          <a:solidFill>
            <a:srgbClr val="1A267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4" name="Google Shape;274;p8"/>
          <p:cNvSpPr/>
          <p:nvPr/>
        </p:nvSpPr>
        <p:spPr>
          <a:xfrm>
            <a:off x="548640" y="502920"/>
            <a:ext cx="82296" cy="868680"/>
          </a:xfrm>
          <a:prstGeom prst="rect">
            <a:avLst/>
          </a:prstGeom>
          <a:solidFill>
            <a:srgbClr val="3AAFE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5" name="Google Shape;275;p8"/>
          <p:cNvSpPr txBox="1"/>
          <p:nvPr/>
        </p:nvSpPr>
        <p:spPr>
          <a:xfrm>
            <a:off x="731520" y="411480"/>
            <a:ext cx="86868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3AAFE5"/>
                </a:solidFill>
                <a:latin typeface="Arial"/>
                <a:ea typeface="Arial"/>
                <a:cs typeface="Arial"/>
                <a:sym typeface="Arial"/>
              </a:rPr>
              <a:t>CONCLUSIONES Y TRABAJO FUTURO</a:t>
            </a:r>
            <a:endParaRPr/>
          </a:p>
        </p:txBody>
      </p:sp>
      <p:sp>
        <p:nvSpPr>
          <p:cNvPr id="276" name="Google Shape;276;p8"/>
          <p:cNvSpPr txBox="1"/>
          <p:nvPr/>
        </p:nvSpPr>
        <p:spPr>
          <a:xfrm>
            <a:off x="731520" y="731520"/>
            <a:ext cx="9418320" cy="7315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1A2674"/>
                </a:solidFill>
                <a:latin typeface="Arial"/>
                <a:ea typeface="Arial"/>
                <a:cs typeface="Arial"/>
                <a:sym typeface="Arial"/>
              </a:rPr>
              <a:t>Lo que aprendimos y lo que sigue</a:t>
            </a:r>
            <a:endParaRPr/>
          </a:p>
        </p:txBody>
      </p:sp>
      <p:pic>
        <p:nvPicPr>
          <p:cNvPr descr="logo.png" id="277" name="Google Shape;277;p8"/>
          <p:cNvPicPr preferRelativeResize="0"/>
          <p:nvPr/>
        </p:nvPicPr>
        <p:blipFill rotWithShape="1">
          <a:blip r:embed="rId3">
            <a:alphaModFix/>
          </a:blip>
          <a:srcRect b="0" l="0" r="0" t="0"/>
          <a:stretch/>
        </p:blipFill>
        <p:spPr>
          <a:xfrm>
            <a:off x="10744200" y="320040"/>
            <a:ext cx="886008" cy="1051560"/>
          </a:xfrm>
          <a:prstGeom prst="rect">
            <a:avLst/>
          </a:prstGeom>
          <a:noFill/>
          <a:ln>
            <a:noFill/>
          </a:ln>
        </p:spPr>
      </p:pic>
      <p:sp>
        <p:nvSpPr>
          <p:cNvPr id="278" name="Google Shape;278;p8"/>
          <p:cNvSpPr txBox="1"/>
          <p:nvPr/>
        </p:nvSpPr>
        <p:spPr>
          <a:xfrm>
            <a:off x="548640" y="6446520"/>
            <a:ext cx="822960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4A526B"/>
                </a:solidFill>
                <a:latin typeface="Arial"/>
                <a:ea typeface="Arial"/>
                <a:cs typeface="Arial"/>
                <a:sym typeface="Arial"/>
              </a:rPr>
              <a:t>DemandIA Fresh  ·  Equipo 03  ·  Agentes Inteligentes  ·  2026-2</a:t>
            </a:r>
            <a:endParaRPr/>
          </a:p>
        </p:txBody>
      </p:sp>
      <p:sp>
        <p:nvSpPr>
          <p:cNvPr id="279" name="Google Shape;279;p8"/>
          <p:cNvSpPr txBox="1"/>
          <p:nvPr/>
        </p:nvSpPr>
        <p:spPr>
          <a:xfrm>
            <a:off x="10698480" y="6446520"/>
            <a:ext cx="1005840" cy="27432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000" u="none" cap="none" strike="noStrike">
                <a:solidFill>
                  <a:srgbClr val="4A526B"/>
                </a:solidFill>
                <a:latin typeface="Arial"/>
                <a:ea typeface="Arial"/>
                <a:cs typeface="Arial"/>
                <a:sym typeface="Arial"/>
              </a:rPr>
              <a:t>8 / 8</a:t>
            </a:r>
            <a:endParaRPr/>
          </a:p>
        </p:txBody>
      </p:sp>
      <p:sp>
        <p:nvSpPr>
          <p:cNvPr id="280" name="Google Shape;280;p8"/>
          <p:cNvSpPr/>
          <p:nvPr/>
        </p:nvSpPr>
        <p:spPr>
          <a:xfrm>
            <a:off x="731520" y="1737360"/>
            <a:ext cx="6035040" cy="3931920"/>
          </a:xfrm>
          <a:prstGeom prst="roundRect">
            <a:avLst>
              <a:gd fmla="val 8000" name="adj"/>
            </a:avLst>
          </a:prstGeom>
          <a:solidFill>
            <a:srgbClr val="E4F3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1" name="Google Shape;281;p8"/>
          <p:cNvSpPr txBox="1"/>
          <p:nvPr/>
        </p:nvSpPr>
        <p:spPr>
          <a:xfrm>
            <a:off x="914400" y="1828800"/>
            <a:ext cx="566928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rgbClr val="1A2674"/>
                </a:solidFill>
                <a:latin typeface="Arial"/>
                <a:ea typeface="Arial"/>
                <a:cs typeface="Arial"/>
                <a:sym typeface="Arial"/>
              </a:rPr>
              <a:t>Conclusiones</a:t>
            </a:r>
            <a:endParaRPr/>
          </a:p>
        </p:txBody>
      </p:sp>
      <p:sp>
        <p:nvSpPr>
          <p:cNvPr id="282" name="Google Shape;282;p8"/>
          <p:cNvSpPr txBox="1"/>
          <p:nvPr/>
        </p:nvSpPr>
        <p:spPr>
          <a:xfrm>
            <a:off x="914400" y="2468880"/>
            <a:ext cx="5669280" cy="35661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100" u="none" cap="none" strike="noStrike">
                <a:solidFill>
                  <a:srgbClr val="4A526B"/>
                </a:solidFill>
                <a:latin typeface="Arial"/>
                <a:ea typeface="Arial"/>
                <a:cs typeface="Arial"/>
                <a:sym typeface="Arial"/>
              </a:rPr>
              <a:t>•  El agente de utilidad logró la mayor utilidad neta.</a:t>
            </a:r>
            <a:endParaRPr/>
          </a:p>
          <a:p>
            <a:pPr indent="0" lvl="0" marL="0" marR="0" rtl="0" algn="l">
              <a:spcBef>
                <a:spcPts val="1400"/>
              </a:spcBef>
              <a:spcAft>
                <a:spcPts val="0"/>
              </a:spcAft>
              <a:buNone/>
            </a:pPr>
            <a:r>
              <a:rPr b="0" i="0" lang="en-US" sz="2100" u="none" cap="none" strike="noStrike">
                <a:solidFill>
                  <a:srgbClr val="4A526B"/>
                </a:solidFill>
                <a:latin typeface="Arial"/>
                <a:ea typeface="Arial"/>
                <a:cs typeface="Arial"/>
                <a:sym typeface="Arial"/>
              </a:rPr>
              <a:t>•  El reactivo tuvo mejor nivel de servicio, pero desperdició más.</a:t>
            </a:r>
            <a:endParaRPr/>
          </a:p>
          <a:p>
            <a:pPr indent="0" lvl="0" marL="0" marR="0" rtl="0" algn="l">
              <a:spcBef>
                <a:spcPts val="1400"/>
              </a:spcBef>
              <a:spcAft>
                <a:spcPts val="0"/>
              </a:spcAft>
              <a:buNone/>
            </a:pPr>
            <a:r>
              <a:rPr b="0" i="0" lang="en-US" sz="2100" u="none" cap="none" strike="noStrike">
                <a:solidFill>
                  <a:srgbClr val="4A526B"/>
                </a:solidFill>
                <a:latin typeface="Arial"/>
                <a:ea typeface="Arial"/>
                <a:cs typeface="Arial"/>
                <a:sym typeface="Arial"/>
              </a:rPr>
              <a:t>•  El base fue simple, pero perdió ventas.</a:t>
            </a:r>
            <a:endParaRPr/>
          </a:p>
        </p:txBody>
      </p:sp>
      <p:sp>
        <p:nvSpPr>
          <p:cNvPr id="283" name="Google Shape;283;p8"/>
          <p:cNvSpPr/>
          <p:nvPr/>
        </p:nvSpPr>
        <p:spPr>
          <a:xfrm>
            <a:off x="7040880" y="1737360"/>
            <a:ext cx="4389120" cy="3931920"/>
          </a:xfrm>
          <a:prstGeom prst="roundRect">
            <a:avLst>
              <a:gd fmla="val 8000" name="adj"/>
            </a:avLst>
          </a:prstGeom>
          <a:solidFill>
            <a:srgbClr val="1A267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4" name="Google Shape;284;p8"/>
          <p:cNvSpPr txBox="1"/>
          <p:nvPr/>
        </p:nvSpPr>
        <p:spPr>
          <a:xfrm>
            <a:off x="7223760" y="1828800"/>
            <a:ext cx="402336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rgbClr val="3AAFE5"/>
                </a:solidFill>
                <a:latin typeface="Arial"/>
                <a:ea typeface="Arial"/>
                <a:cs typeface="Arial"/>
                <a:sym typeface="Arial"/>
              </a:rPr>
              <a:t>Trabajo futuro</a:t>
            </a:r>
            <a:endParaRPr/>
          </a:p>
        </p:txBody>
      </p:sp>
      <p:sp>
        <p:nvSpPr>
          <p:cNvPr id="285" name="Google Shape;285;p8"/>
          <p:cNvSpPr txBox="1"/>
          <p:nvPr/>
        </p:nvSpPr>
        <p:spPr>
          <a:xfrm>
            <a:off x="7223760" y="2468880"/>
            <a:ext cx="4023360" cy="35661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100" u="none" cap="none" strike="noStrike">
                <a:solidFill>
                  <a:srgbClr val="FFFFFF"/>
                </a:solidFill>
                <a:latin typeface="Arial"/>
                <a:ea typeface="Arial"/>
                <a:cs typeface="Arial"/>
                <a:sym typeface="Arial"/>
              </a:rPr>
              <a:t>•  Machine Learning para predecir la demanda</a:t>
            </a:r>
            <a:endParaRPr/>
          </a:p>
          <a:p>
            <a:pPr indent="0" lvl="0" marL="0" marR="0" rtl="0" algn="l">
              <a:spcBef>
                <a:spcPts val="1400"/>
              </a:spcBef>
              <a:spcAft>
                <a:spcPts val="0"/>
              </a:spcAft>
              <a:buNone/>
            </a:pPr>
            <a:r>
              <a:rPr b="0" i="0" lang="en-US" sz="2100" u="none" cap="none" strike="noStrike">
                <a:solidFill>
                  <a:srgbClr val="FFFFFF"/>
                </a:solidFill>
                <a:latin typeface="Arial"/>
                <a:ea typeface="Arial"/>
                <a:cs typeface="Arial"/>
                <a:sym typeface="Arial"/>
              </a:rPr>
              <a:t>•  Datos reales de ventas</a:t>
            </a:r>
            <a:endParaRPr/>
          </a:p>
          <a:p>
            <a:pPr indent="0" lvl="0" marL="0" marR="0" rtl="0" algn="l">
              <a:spcBef>
                <a:spcPts val="1400"/>
              </a:spcBef>
              <a:spcAft>
                <a:spcPts val="0"/>
              </a:spcAft>
              <a:buNone/>
            </a:pPr>
            <a:r>
              <a:rPr b="0" i="0" lang="en-US" sz="2100" u="none" cap="none" strike="noStrike">
                <a:solidFill>
                  <a:srgbClr val="FFFFFF"/>
                </a:solidFill>
                <a:latin typeface="Arial"/>
                <a:ea typeface="Arial"/>
                <a:cs typeface="Arial"/>
                <a:sym typeface="Arial"/>
              </a:rPr>
              <a:t>•  Recomendaciones diarias tipo SaaS</a:t>
            </a:r>
            <a:endParaRPr/>
          </a:p>
        </p:txBody>
      </p:sp>
      <p:sp>
        <p:nvSpPr>
          <p:cNvPr id="286" name="Google Shape;286;p8"/>
          <p:cNvSpPr txBox="1"/>
          <p:nvPr/>
        </p:nvSpPr>
        <p:spPr>
          <a:xfrm>
            <a:off x="731520" y="5870448"/>
            <a:ext cx="1069848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000" u="none" cap="none" strike="noStrike">
                <a:solidFill>
                  <a:srgbClr val="1A2674"/>
                </a:solidFill>
                <a:latin typeface="Arial"/>
                <a:ea typeface="Arial"/>
                <a:cs typeface="Arial"/>
                <a:sym typeface="Arial"/>
              </a:rPr>
              <a:t>¡Gracias!  ¿Preguntas?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Equipo 03</dc:creator>
</cp:coreProperties>
</file>